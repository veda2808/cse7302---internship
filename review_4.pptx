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354330"/>
            <a:ext cx="2206625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5846064"/>
            <a:ext cx="12192000" cy="10119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5993" y="103822"/>
            <a:ext cx="7666761" cy="9032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94789" y="2279650"/>
            <a:ext cx="8622030" cy="3061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9319" y="6463665"/>
            <a:ext cx="24384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aenexz.in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Veda2808/CSE7302---INTERNSHIP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7500" y="14439"/>
            <a:ext cx="39370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2E5496"/>
                </a:solidFill>
              </a:rPr>
              <a:t>CSE7302</a:t>
            </a:r>
            <a:r>
              <a:rPr sz="2800" spc="-50" dirty="0">
                <a:solidFill>
                  <a:srgbClr val="2E5496"/>
                </a:solidFill>
              </a:rPr>
              <a:t> </a:t>
            </a:r>
            <a:r>
              <a:rPr sz="2800" dirty="0">
                <a:solidFill>
                  <a:srgbClr val="2E5496"/>
                </a:solidFill>
              </a:rPr>
              <a:t>-</a:t>
            </a:r>
            <a:r>
              <a:rPr sz="2800" spc="-55" dirty="0">
                <a:solidFill>
                  <a:srgbClr val="2E5496"/>
                </a:solidFill>
              </a:rPr>
              <a:t> </a:t>
            </a:r>
            <a:r>
              <a:rPr sz="2800" spc="-10" dirty="0">
                <a:solidFill>
                  <a:srgbClr val="2E5496"/>
                </a:solidFill>
              </a:rPr>
              <a:t>INTERNSHIP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34518" y="443700"/>
            <a:ext cx="10340340" cy="4955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2395"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Review-</a:t>
            </a:r>
            <a:r>
              <a:rPr sz="24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00" b="1" spc="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Presentation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732915" marR="342265" algn="ctr">
              <a:lnSpc>
                <a:spcPct val="100000"/>
              </a:lnSpc>
            </a:pPr>
            <a:r>
              <a:rPr sz="2400" b="1" spc="-2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ARTIFICIAL</a:t>
            </a:r>
            <a:r>
              <a:rPr sz="2400" b="1" spc="-14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INTELLIGENCE</a:t>
            </a:r>
            <a:r>
              <a:rPr sz="2400" b="1" spc="-14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400" b="1" spc="-3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2400" b="1" spc="-2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LEARNING INTERNSHIP</a:t>
            </a:r>
            <a:r>
              <a:rPr sz="2400" b="1" spc="-18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TASKS</a:t>
            </a:r>
            <a:r>
              <a:rPr sz="2400" b="1" spc="-13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400" b="1" spc="-4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PROJECT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7369810">
              <a:lnSpc>
                <a:spcPct val="100000"/>
              </a:lnSpc>
            </a:pPr>
            <a:r>
              <a:rPr sz="2000" b="1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Under</a:t>
            </a:r>
            <a:r>
              <a:rPr sz="2000" b="1" spc="-50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2000" b="1" spc="-50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Supervision</a:t>
            </a:r>
            <a:r>
              <a:rPr sz="2000" b="1" spc="-55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spc="-25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of,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2000">
              <a:latin typeface="Cambria" panose="02040503050406030204"/>
              <a:cs typeface="Cambria" panose="02040503050406030204"/>
            </a:endParaRPr>
          </a:p>
          <a:p>
            <a:pPr marL="7346315" marR="537845">
              <a:lnSpc>
                <a:spcPct val="117000"/>
              </a:lnSpc>
            </a:pPr>
            <a:r>
              <a:rPr sz="1700" b="1" spc="-60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Mr.</a:t>
            </a:r>
            <a:r>
              <a:rPr sz="1700" b="1" spc="-35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b="1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Abhishek</a:t>
            </a:r>
            <a:r>
              <a:rPr sz="1700" b="1" spc="-55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b="1" spc="-50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M</a:t>
            </a:r>
            <a:r>
              <a:rPr sz="1700" b="1" spc="500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b="1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Assistant</a:t>
            </a:r>
            <a:r>
              <a:rPr sz="1700" b="1" spc="-85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b="1" spc="-10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Professor Presidency </a:t>
            </a:r>
            <a:r>
              <a:rPr sz="1700" b="1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School</a:t>
            </a:r>
            <a:r>
              <a:rPr sz="1700" b="1" spc="-5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b="1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1700" b="1" spc="-10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b="1" spc="-25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CSE </a:t>
            </a:r>
            <a:r>
              <a:rPr sz="1700" b="1" spc="-10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Presidency</a:t>
            </a:r>
            <a:r>
              <a:rPr sz="1700" b="1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b="1" spc="-10" dirty="0">
                <a:solidFill>
                  <a:srgbClr val="16365D"/>
                </a:solidFill>
                <a:latin typeface="Cambria" panose="02040503050406030204"/>
                <a:cs typeface="Cambria" panose="02040503050406030204"/>
              </a:rPr>
              <a:t>University</a:t>
            </a:r>
            <a:endParaRPr sz="17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700">
              <a:latin typeface="Cambria" panose="02040503050406030204"/>
              <a:cs typeface="Cambria" panose="02040503050406030204"/>
            </a:endParaRPr>
          </a:p>
          <a:p>
            <a:pPr marL="12700" marR="5382895">
              <a:lnSpc>
                <a:spcPct val="100000"/>
              </a:lnSpc>
            </a:pP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Name</a:t>
            </a:r>
            <a:r>
              <a:rPr sz="2000" b="1" spc="-35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2000" b="1" spc="-20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2000" b="1" spc="-25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spc="-10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Program:</a:t>
            </a:r>
            <a:r>
              <a:rPr sz="2000" b="1" spc="-20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spc="-10" dirty="0">
                <a:latin typeface="Cambria" panose="02040503050406030204"/>
                <a:cs typeface="Cambria" panose="02040503050406030204"/>
              </a:rPr>
              <a:t>CSE7302-Internship </a:t>
            </a: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Name</a:t>
            </a:r>
            <a:r>
              <a:rPr sz="2000" b="1" spc="-35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2000" b="1" spc="-30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2000" b="1" spc="-30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HoD:</a:t>
            </a:r>
            <a:r>
              <a:rPr sz="2000" b="1" spc="-30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spc="-55" dirty="0">
                <a:latin typeface="Cambria" panose="02040503050406030204"/>
                <a:cs typeface="Cambria" panose="02040503050406030204"/>
              </a:rPr>
              <a:t>Dr.</a:t>
            </a:r>
            <a:r>
              <a:rPr sz="2000" b="1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latin typeface="Cambria" panose="02040503050406030204"/>
                <a:cs typeface="Cambria" panose="02040503050406030204"/>
              </a:rPr>
              <a:t>Gopal</a:t>
            </a:r>
            <a:r>
              <a:rPr sz="2000" b="1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spc="-10" dirty="0">
                <a:latin typeface="Cambria" panose="02040503050406030204"/>
                <a:cs typeface="Cambria" panose="02040503050406030204"/>
              </a:rPr>
              <a:t>Shyam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 marL="12700" marR="2707640">
              <a:lnSpc>
                <a:spcPct val="100000"/>
              </a:lnSpc>
            </a:pP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Name</a:t>
            </a:r>
            <a:r>
              <a:rPr sz="2000" b="1" spc="-60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2000" b="1" spc="-50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2000" b="1" spc="-50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spc="-10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Program</a:t>
            </a:r>
            <a:r>
              <a:rPr sz="2000" b="1" spc="-55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Internship</a:t>
            </a:r>
            <a:r>
              <a:rPr sz="2000" b="1" spc="-50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Coordinator:</a:t>
            </a:r>
            <a:r>
              <a:rPr sz="2000" b="1" spc="335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spc="-65" dirty="0">
                <a:latin typeface="Cambria" panose="02040503050406030204"/>
                <a:cs typeface="Cambria" panose="02040503050406030204"/>
              </a:rPr>
              <a:t>Mr.</a:t>
            </a:r>
            <a:r>
              <a:rPr sz="2000" b="1" spc="-4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spc="-10" dirty="0">
                <a:latin typeface="Cambria" panose="02040503050406030204"/>
                <a:cs typeface="Cambria" panose="02040503050406030204"/>
              </a:rPr>
              <a:t>Anandan</a:t>
            </a:r>
            <a:r>
              <a:rPr sz="2000" b="1" spc="-5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spc="-10" dirty="0">
                <a:latin typeface="Cambria" panose="02040503050406030204"/>
                <a:cs typeface="Cambria" panose="02040503050406030204"/>
              </a:rPr>
              <a:t>Bellie </a:t>
            </a: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Name</a:t>
            </a:r>
            <a:r>
              <a:rPr sz="2000" b="1" spc="-45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2000" b="1" spc="-40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2000" b="1" spc="-45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School</a:t>
            </a:r>
            <a:r>
              <a:rPr sz="2000" b="1" spc="-40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Internship</a:t>
            </a:r>
            <a:r>
              <a:rPr sz="2000" b="1" spc="-45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spc="-10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Coordinator:</a:t>
            </a:r>
            <a:r>
              <a:rPr sz="2000" b="1" spc="-40" dirty="0">
                <a:solidFill>
                  <a:srgbClr val="4471C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b="1" spc="-55" dirty="0">
                <a:latin typeface="Cambria" panose="02040503050406030204"/>
                <a:cs typeface="Cambria" panose="02040503050406030204"/>
              </a:rPr>
              <a:t>Dr.</a:t>
            </a:r>
            <a:r>
              <a:rPr sz="2000" b="1" spc="-4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latin typeface="Cambria" panose="02040503050406030204"/>
                <a:cs typeface="Cambria" panose="02040503050406030204"/>
              </a:rPr>
              <a:t>Md</a:t>
            </a:r>
            <a:r>
              <a:rPr sz="2000" b="1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latin typeface="Cambria" panose="02040503050406030204"/>
                <a:cs typeface="Cambria" panose="02040503050406030204"/>
              </a:rPr>
              <a:t>Ziaur</a:t>
            </a:r>
            <a:r>
              <a:rPr sz="2000" b="1" spc="-4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spc="-10" dirty="0">
                <a:latin typeface="Cambria" panose="02040503050406030204"/>
                <a:cs typeface="Cambria" panose="02040503050406030204"/>
              </a:rPr>
              <a:t>Rahman</a:t>
            </a:r>
            <a:endParaRPr sz="2000">
              <a:latin typeface="Cambria" panose="02040503050406030204"/>
              <a:cs typeface="Cambria" panose="0204050305040603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5553" y="1905520"/>
          <a:ext cx="5410200" cy="1461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0965"/>
                <a:gridCol w="3950335"/>
              </a:tblGrid>
              <a:tr h="3657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Student</a:t>
                      </a:r>
                      <a:r>
                        <a:rPr sz="1800" b="1" spc="-7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Details</a:t>
                      </a:r>
                      <a:endParaRPr sz="18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cPr marL="0" marR="0" marT="0" marB="0"/>
                </a:tc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0" dirty="0">
                          <a:latin typeface="Cambria" panose="02040503050406030204"/>
                          <a:cs typeface="Cambria" panose="02040503050406030204"/>
                        </a:rPr>
                        <a:t>Name</a:t>
                      </a:r>
                      <a:endParaRPr sz="18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Cambria" panose="02040503050406030204"/>
                          <a:cs typeface="Cambria" panose="02040503050406030204"/>
                        </a:rPr>
                        <a:t>Jinka</a:t>
                      </a:r>
                      <a:r>
                        <a:rPr sz="1800" spc="-6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800" spc="-20" dirty="0">
                          <a:latin typeface="Cambria" panose="02040503050406030204"/>
                          <a:cs typeface="Cambria" panose="02040503050406030204"/>
                        </a:rPr>
                        <a:t>Veda</a:t>
                      </a:r>
                      <a:r>
                        <a:rPr sz="1800" spc="-6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800" spc="-20" dirty="0">
                          <a:latin typeface="Cambria" panose="02040503050406030204"/>
                          <a:cs typeface="Cambria" panose="02040503050406030204"/>
                        </a:rPr>
                        <a:t>Sree</a:t>
                      </a:r>
                      <a:endParaRPr sz="18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latin typeface="Cambria" panose="02040503050406030204"/>
                          <a:cs typeface="Cambria" panose="02040503050406030204"/>
                        </a:rPr>
                        <a:t>Roll</a:t>
                      </a:r>
                      <a:r>
                        <a:rPr sz="1800" b="1" spc="-6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800" b="1" spc="-25" dirty="0">
                          <a:latin typeface="Cambria" panose="02040503050406030204"/>
                          <a:cs typeface="Cambria" panose="02040503050406030204"/>
                        </a:rPr>
                        <a:t>No</a:t>
                      </a:r>
                      <a:endParaRPr sz="18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10" dirty="0">
                          <a:latin typeface="Cambria" panose="02040503050406030204"/>
                          <a:cs typeface="Cambria" panose="02040503050406030204"/>
                        </a:rPr>
                        <a:t>20221ISE0057</a:t>
                      </a:r>
                      <a:endParaRPr sz="18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Cambria" panose="02040503050406030204"/>
                          <a:cs typeface="Cambria" panose="02040503050406030204"/>
                        </a:rPr>
                        <a:t>Section</a:t>
                      </a:r>
                      <a:endParaRPr sz="18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10" dirty="0">
                          <a:latin typeface="Cambria" panose="02040503050406030204"/>
                          <a:cs typeface="Cambria" panose="02040503050406030204"/>
                        </a:rPr>
                        <a:t>8ISE03</a:t>
                      </a:r>
                      <a:endParaRPr sz="18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0905" y="103822"/>
            <a:ext cx="19062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Content</a:t>
            </a:r>
            <a:endParaRPr sz="44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5024" y="918883"/>
            <a:ext cx="4823460" cy="490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About</a:t>
            </a:r>
            <a:r>
              <a:rPr sz="2000" b="1" spc="-4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Company</a:t>
            </a:r>
            <a:r>
              <a:rPr sz="2000" b="1" spc="-4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000" b="1" spc="-7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Organization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000" b="1" spc="-1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Working</a:t>
            </a:r>
            <a:r>
              <a:rPr sz="2000" b="1" spc="-4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domain</a:t>
            </a:r>
            <a:r>
              <a:rPr sz="2000" b="1" spc="-4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000" b="1" spc="-7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b="1" spc="-3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About</a:t>
            </a:r>
            <a:r>
              <a:rPr sz="2000" b="1" spc="-4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your</a:t>
            </a:r>
            <a:r>
              <a:rPr sz="2000" b="1" spc="-7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team</a:t>
            </a:r>
            <a:r>
              <a:rPr sz="2000" b="1" spc="-4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b="1" spc="-45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reporting</a:t>
            </a:r>
            <a:r>
              <a:rPr sz="2000" b="1" spc="-35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Manager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Challenges</a:t>
            </a:r>
            <a:r>
              <a:rPr sz="2000" b="1" spc="-3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Faced</a:t>
            </a:r>
            <a:r>
              <a:rPr sz="2000" b="1" spc="-35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000" b="1" spc="-35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Internship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Objectives</a:t>
            </a:r>
            <a:r>
              <a:rPr sz="2000" b="1" spc="-25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2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b="1" spc="-15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work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Literature</a:t>
            </a:r>
            <a:r>
              <a:rPr sz="2000" b="1" spc="-85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Review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2000" b="1" spc="-95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2000" b="1" spc="-85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Statement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000" b="1" spc="-35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Requirements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Advantages</a:t>
            </a:r>
            <a:r>
              <a:rPr sz="2000" b="1" spc="-6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55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2000" b="1" spc="-6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System/Work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000" b="1" spc="-35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Design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000" b="1" spc="-35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Implementation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000" b="1" spc="-75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Testing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000" b="1" spc="-1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Conclusion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000" b="1" spc="-1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References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Github</a:t>
            </a:r>
            <a:r>
              <a:rPr sz="2000" b="1" spc="-4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0" dirty="0">
                <a:solidFill>
                  <a:srgbClr val="2E5496"/>
                </a:solidFill>
                <a:latin typeface="Times New Roman" panose="02020603050405020304"/>
                <a:cs typeface="Times New Roman" panose="02020603050405020304"/>
              </a:rPr>
              <a:t>Link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117" rIns="0" bIns="0" rtlCol="0">
            <a:spAutoFit/>
          </a:bodyPr>
          <a:lstStyle/>
          <a:p>
            <a:pPr marL="523240">
              <a:lnSpc>
                <a:spcPct val="100000"/>
              </a:lnSpc>
              <a:spcBef>
                <a:spcPts val="105"/>
              </a:spcBef>
            </a:pPr>
            <a:r>
              <a:rPr dirty="0"/>
              <a:t>About</a:t>
            </a:r>
            <a:r>
              <a:rPr spc="-30" dirty="0"/>
              <a:t> </a:t>
            </a:r>
            <a:r>
              <a:rPr dirty="0"/>
              <a:t>Company</a:t>
            </a:r>
            <a:r>
              <a:rPr spc="-30" dirty="0"/>
              <a:t> </a:t>
            </a:r>
            <a:r>
              <a:rPr dirty="0"/>
              <a:t>or</a:t>
            </a:r>
            <a:r>
              <a:rPr spc="-85" dirty="0"/>
              <a:t> </a:t>
            </a:r>
            <a:r>
              <a:rPr spc="-10" dirty="0"/>
              <a:t>Organization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022807"/>
            <a:ext cx="10109835" cy="396367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613410">
              <a:lnSpc>
                <a:spcPts val="3020"/>
              </a:lnSpc>
              <a:spcBef>
                <a:spcPts val="475"/>
              </a:spcBef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Aenexz</a:t>
            </a:r>
            <a:r>
              <a:rPr sz="2000" b="1" spc="-65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b="1" spc="-50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Tech</a:t>
            </a:r>
            <a:r>
              <a:rPr sz="2000" b="1" spc="-60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Pvt.</a:t>
            </a:r>
            <a:r>
              <a:rPr sz="2000" b="1" spc="-65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Ltd.</a:t>
            </a:r>
            <a:r>
              <a:rPr sz="2000" b="1" spc="-60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(</a:t>
            </a:r>
            <a:r>
              <a:rPr sz="2000" u="heavy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AENEXZ</a:t>
            </a:r>
            <a:r>
              <a:rPr sz="2000" u="heavy" spc="-7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u="heavy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TECH</a:t>
            </a:r>
            <a:r>
              <a:rPr sz="2000" u="heavy" spc="-6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u="heavy" spc="-5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PRIVATE</a:t>
            </a:r>
            <a:r>
              <a:rPr sz="2000" u="heavy" spc="-7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u="heavy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LIMITED</a:t>
            </a:r>
            <a:r>
              <a:rPr sz="2000" u="heavy" spc="-6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u="heavy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–</a:t>
            </a:r>
            <a:r>
              <a:rPr sz="2000" u="heavy" spc="-6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u="heavy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Innovate.</a:t>
            </a:r>
            <a:r>
              <a:rPr sz="2000" spc="-10" dirty="0">
                <a:solidFill>
                  <a:srgbClr val="0562C1"/>
                </a:solid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u="heavy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Automate.</a:t>
            </a:r>
            <a:r>
              <a:rPr sz="2000" u="heavy" spc="-9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u="heavy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Dominate</a:t>
            </a:r>
            <a:r>
              <a:rPr sz="2000" u="heavy" spc="-8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)is</a:t>
            </a:r>
            <a:r>
              <a:rPr sz="2000" spc="-90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a</a:t>
            </a:r>
            <a:r>
              <a:rPr sz="2000" spc="-90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technology</a:t>
            </a:r>
            <a:r>
              <a:rPr sz="2000" spc="-90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company</a:t>
            </a:r>
            <a:r>
              <a:rPr sz="2000" spc="-90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that</a:t>
            </a:r>
            <a:r>
              <a:rPr sz="2000" spc="-85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focuses</a:t>
            </a:r>
            <a:r>
              <a:rPr sz="2000" spc="-90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 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on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delivering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software</a:t>
            </a:r>
            <a:r>
              <a:rPr sz="2000" b="1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000" b="1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digital</a:t>
            </a:r>
            <a:r>
              <a:rPr sz="2000" b="1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solutions</a:t>
            </a:r>
            <a:r>
              <a:rPr sz="2000" b="1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businesses.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Key</a:t>
            </a:r>
            <a:r>
              <a:rPr sz="2000" b="1" spc="-1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Highlights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Times New Roman" panose="02020603050405020304" charset="0"/>
                <a:cs typeface="Times New Roman" panose="02020603050405020304" charset="0"/>
              </a:rPr>
              <a:t>Works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on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modern</a:t>
            </a:r>
            <a:r>
              <a:rPr sz="2000" b="1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IT</a:t>
            </a:r>
            <a:r>
              <a:rPr sz="2000" b="1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solutions</a:t>
            </a:r>
            <a:r>
              <a:rPr sz="2000" b="1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product</a:t>
            </a:r>
            <a:r>
              <a:rPr sz="20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development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Provides</a:t>
            </a:r>
            <a:r>
              <a:rPr sz="20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AI/ML</a:t>
            </a:r>
            <a:r>
              <a:rPr sz="2000" b="1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000" b="1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25" dirty="0">
                <a:latin typeface="Times New Roman" panose="02020603050405020304" charset="0"/>
                <a:cs typeface="Times New Roman" panose="02020603050405020304" charset="0"/>
              </a:rPr>
              <a:t>software-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based</a:t>
            </a:r>
            <a:r>
              <a:rPr sz="2000" b="1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services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Focuses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on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25" dirty="0">
                <a:latin typeface="Times New Roman" panose="02020603050405020304" charset="0"/>
                <a:cs typeface="Times New Roman" panose="02020603050405020304" charset="0"/>
              </a:rPr>
              <a:t>real-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world</a:t>
            </a:r>
            <a:r>
              <a:rPr sz="2000" b="1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problem</a:t>
            </a:r>
            <a:r>
              <a:rPr sz="2000" b="1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solving</a:t>
            </a:r>
            <a:r>
              <a:rPr sz="2000" b="1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using</a:t>
            </a:r>
            <a:r>
              <a:rPr sz="20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emerging</a:t>
            </a:r>
            <a:r>
              <a:rPr sz="20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technologies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Why</a:t>
            </a:r>
            <a:r>
              <a:rPr sz="2000" b="1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sz="2000" b="1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chose</a:t>
            </a:r>
            <a:r>
              <a:rPr sz="2000" b="1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this</a:t>
            </a:r>
            <a:r>
              <a:rPr sz="2000" b="1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company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Opportunity</a:t>
            </a:r>
            <a:r>
              <a:rPr sz="20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0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learn</a:t>
            </a:r>
            <a:r>
              <a:rPr sz="20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AI/ML</a:t>
            </a:r>
            <a:r>
              <a:rPr sz="20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practically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Exposure</a:t>
            </a:r>
            <a:r>
              <a:rPr sz="20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0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20" dirty="0">
                <a:latin typeface="Times New Roman" panose="02020603050405020304" charset="0"/>
                <a:cs typeface="Times New Roman" panose="02020603050405020304" charset="0"/>
              </a:rPr>
              <a:t>industry-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style</a:t>
            </a:r>
            <a:r>
              <a:rPr sz="20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workflow</a:t>
            </a:r>
            <a:r>
              <a:rPr sz="20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in</a:t>
            </a:r>
            <a:r>
              <a:rPr sz="20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20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virtual</a:t>
            </a:r>
            <a:r>
              <a:rPr sz="20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environment</a:t>
            </a:r>
            <a:endParaRPr sz="20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2190" y="642556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425565"/>
            <a:ext cx="608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4/1/2026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2190" y="642556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0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4471C4"/>
                </a:solidFill>
                <a:latin typeface="Calibri" panose="020F0502020204030204"/>
                <a:cs typeface="Calibri" panose="020F0502020204030204"/>
              </a:rPr>
              <a:t>Company</a:t>
            </a:r>
            <a:r>
              <a:rPr sz="2800" spc="-85" dirty="0">
                <a:solidFill>
                  <a:srgbClr val="4471C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solidFill>
                  <a:srgbClr val="4471C4"/>
                </a:solidFill>
                <a:latin typeface="Calibri" panose="020F0502020204030204"/>
                <a:cs typeface="Calibri" panose="020F0502020204030204"/>
              </a:rPr>
              <a:t>Legacy</a:t>
            </a:r>
            <a:r>
              <a:rPr sz="2800" spc="-85" dirty="0">
                <a:solidFill>
                  <a:srgbClr val="4471C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solidFill>
                  <a:srgbClr val="4471C4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2800" spc="-75" dirty="0">
                <a:solidFill>
                  <a:srgbClr val="4471C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solidFill>
                  <a:srgbClr val="4471C4"/>
                </a:solidFill>
                <a:latin typeface="Calibri" panose="020F0502020204030204"/>
                <a:cs typeface="Calibri" panose="020F0502020204030204"/>
              </a:rPr>
              <a:t>Vision: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993" y="1213281"/>
            <a:ext cx="10901680" cy="2597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Vision</a:t>
            </a:r>
            <a:r>
              <a:rPr sz="2000" b="1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&amp;</a:t>
            </a:r>
            <a:r>
              <a:rPr sz="2000" b="1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Approach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Building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scalable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solutions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using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latest</a:t>
            </a:r>
            <a:r>
              <a:rPr sz="2000" b="1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technologies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Encouraging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innovation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through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continuous</a:t>
            </a:r>
            <a:r>
              <a:rPr sz="2000" b="1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learning</a:t>
            </a:r>
            <a:r>
              <a:rPr sz="2000" b="1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&amp;</a:t>
            </a:r>
            <a:r>
              <a:rPr sz="2000" b="1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implementation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3360"/>
              </a:spcBef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Core</a:t>
            </a:r>
            <a:r>
              <a:rPr sz="2000" b="1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Strengths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spc="-20" dirty="0">
                <a:latin typeface="Times New Roman" panose="02020603050405020304" charset="0"/>
                <a:cs typeface="Times New Roman" panose="02020603050405020304" charset="0"/>
              </a:rPr>
              <a:t>Industry-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relevant</a:t>
            </a:r>
            <a:r>
              <a:rPr sz="20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development</a:t>
            </a:r>
            <a:r>
              <a:rPr sz="20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practices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Practical</a:t>
            </a:r>
            <a:r>
              <a:rPr sz="2000" spc="-1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exposure</a:t>
            </a:r>
            <a:r>
              <a:rPr sz="2000" spc="-114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through</a:t>
            </a:r>
            <a:r>
              <a:rPr sz="2000" spc="-1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internship</a:t>
            </a:r>
            <a:r>
              <a:rPr sz="2000" spc="-1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tasks</a:t>
            </a:r>
            <a:r>
              <a:rPr sz="2000" spc="-1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000" spc="-1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assignments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Guidance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mentoring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support</a:t>
            </a:r>
            <a:endParaRPr sz="20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4967" rIns="0" bIns="0" rtlCol="0">
            <a:spAutoFit/>
          </a:bodyPr>
          <a:lstStyle/>
          <a:p>
            <a:pPr marL="52324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2E5496"/>
                </a:solidFill>
              </a:rPr>
              <a:t>Working</a:t>
            </a:r>
            <a:r>
              <a:rPr spc="-65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domain</a:t>
            </a:r>
            <a:r>
              <a:rPr spc="-60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or</a:t>
            </a:r>
            <a:r>
              <a:rPr spc="-120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the</a:t>
            </a:r>
            <a:r>
              <a:rPr spc="-60" dirty="0">
                <a:solidFill>
                  <a:srgbClr val="2E5496"/>
                </a:solidFill>
              </a:rPr>
              <a:t> </a:t>
            </a:r>
            <a:r>
              <a:rPr spc="-10" dirty="0">
                <a:solidFill>
                  <a:srgbClr val="2E5496"/>
                </a:solidFill>
              </a:rPr>
              <a:t>technology</a:t>
            </a:r>
            <a:endParaRPr spc="-10" dirty="0">
              <a:solidFill>
                <a:srgbClr val="2E5496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077556"/>
            <a:ext cx="10052050" cy="315087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0030" indent="-227330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Assigned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domain: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Artificial</a:t>
            </a:r>
            <a:r>
              <a:rPr sz="20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Intelligence</a:t>
            </a:r>
            <a:r>
              <a:rPr sz="20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&amp;</a:t>
            </a:r>
            <a:r>
              <a:rPr sz="20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Machine</a:t>
            </a:r>
            <a:r>
              <a:rPr sz="20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Learning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What</a:t>
            </a:r>
            <a:r>
              <a:rPr sz="2000" b="1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AI/ML</a:t>
            </a:r>
            <a:r>
              <a:rPr sz="2000" b="1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20" dirty="0">
                <a:latin typeface="Times New Roman" panose="02020603050405020304" charset="0"/>
                <a:cs typeface="Times New Roman" panose="02020603050405020304" charset="0"/>
              </a:rPr>
              <a:t>means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AI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enables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20" dirty="0">
                <a:latin typeface="Times New Roman" panose="02020603050405020304" charset="0"/>
                <a:cs typeface="Times New Roman" panose="02020603050405020304" charset="0"/>
              </a:rPr>
              <a:t>systems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perform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tasks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that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require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human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intelligence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ML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helps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20" dirty="0">
                <a:latin typeface="Times New Roman" panose="02020603050405020304" charset="0"/>
                <a:cs typeface="Times New Roman" panose="02020603050405020304" charset="0"/>
              </a:rPr>
              <a:t>systems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learn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patterns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from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data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make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predictions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Importance</a:t>
            </a:r>
            <a:r>
              <a:rPr sz="2000" b="1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of</a:t>
            </a:r>
            <a:r>
              <a:rPr sz="2000" b="1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20" dirty="0">
                <a:latin typeface="Times New Roman" panose="02020603050405020304" charset="0"/>
                <a:cs typeface="Times New Roman" panose="02020603050405020304" charset="0"/>
              </a:rPr>
              <a:t>AI/ML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Automates</a:t>
            </a:r>
            <a:r>
              <a:rPr sz="2000" spc="-9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decision</a:t>
            </a:r>
            <a:r>
              <a:rPr sz="2000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making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Improves</a:t>
            </a:r>
            <a:r>
              <a:rPr sz="2000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accuracy</a:t>
            </a:r>
            <a:r>
              <a:rPr sz="2000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efficiency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Used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in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healthcare,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finance,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20" dirty="0">
                <a:latin typeface="Times New Roman" panose="02020603050405020304" charset="0"/>
                <a:cs typeface="Times New Roman" panose="02020603050405020304" charset="0"/>
              </a:rPr>
              <a:t>security,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recommendation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systems</a:t>
            </a:r>
            <a:endParaRPr sz="20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2190" y="642556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425565"/>
            <a:ext cx="608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4/1/2026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2190" y="642556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6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6590" rIns="0" bIns="0" rtlCol="0">
            <a:spAutoFit/>
          </a:bodyPr>
          <a:lstStyle/>
          <a:p>
            <a:pPr marL="358775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4471C4"/>
                </a:solidFill>
                <a:latin typeface="Calibri" panose="020F0502020204030204"/>
                <a:cs typeface="Calibri" panose="020F0502020204030204"/>
              </a:rPr>
              <a:t>Technologies</a:t>
            </a:r>
            <a:r>
              <a:rPr sz="2800" spc="-70" dirty="0">
                <a:solidFill>
                  <a:srgbClr val="4471C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solidFill>
                  <a:srgbClr val="4471C4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2800" spc="-65" dirty="0">
                <a:solidFill>
                  <a:srgbClr val="4471C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30" dirty="0">
                <a:solidFill>
                  <a:srgbClr val="4471C4"/>
                </a:solidFill>
                <a:latin typeface="Calibri" panose="020F0502020204030204"/>
                <a:cs typeface="Calibri" panose="020F0502020204030204"/>
              </a:rPr>
              <a:t>Tools</a:t>
            </a:r>
            <a:r>
              <a:rPr sz="2800" spc="-70" dirty="0">
                <a:solidFill>
                  <a:srgbClr val="4471C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solidFill>
                  <a:srgbClr val="4471C4"/>
                </a:solidFill>
                <a:latin typeface="Calibri" panose="020F0502020204030204"/>
                <a:cs typeface="Calibri" panose="020F0502020204030204"/>
              </a:rPr>
              <a:t>Used: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2513" y="1251788"/>
            <a:ext cx="6391910" cy="185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30" dirty="0">
                <a:latin typeface="Times New Roman" panose="02020603050405020304" charset="0"/>
                <a:cs typeface="Times New Roman" panose="02020603050405020304" charset="0"/>
              </a:rPr>
              <a:t>Tools</a:t>
            </a:r>
            <a:r>
              <a:rPr sz="2000" b="1" spc="-9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&amp;</a:t>
            </a:r>
            <a:r>
              <a:rPr sz="2000" b="1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Platforms</a:t>
            </a:r>
            <a:r>
              <a:rPr sz="2000" b="1" spc="-9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(typical</a:t>
            </a:r>
            <a:r>
              <a:rPr sz="2000" b="1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AI/ML</a:t>
            </a:r>
            <a:r>
              <a:rPr sz="2000" b="1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workflow)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Jupyter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Notebook</a:t>
            </a:r>
            <a:r>
              <a:rPr sz="20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/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Google</a:t>
            </a:r>
            <a:r>
              <a:rPr sz="20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Colab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NumPy,</a:t>
            </a:r>
            <a:r>
              <a:rPr sz="2000" spc="-114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Pandas</a:t>
            </a:r>
            <a:r>
              <a:rPr sz="2000" spc="-1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(data</a:t>
            </a:r>
            <a:r>
              <a:rPr sz="2000" spc="-1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handling)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Matplotlib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/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Seaborn</a:t>
            </a:r>
            <a:r>
              <a:rPr sz="20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(visualization)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Scikit-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learn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(ML</a:t>
            </a:r>
            <a:r>
              <a:rPr sz="2000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models)</a:t>
            </a:r>
            <a:endParaRPr sz="20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4967" rIns="0" bIns="0" rtlCol="0">
            <a:spAutoFit/>
          </a:bodyPr>
          <a:lstStyle/>
          <a:p>
            <a:pPr marL="5232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E5496"/>
                </a:solidFill>
              </a:rPr>
              <a:t>About</a:t>
            </a:r>
            <a:r>
              <a:rPr spc="-55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your</a:t>
            </a:r>
            <a:r>
              <a:rPr spc="-110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team</a:t>
            </a:r>
            <a:r>
              <a:rPr spc="-50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and</a:t>
            </a:r>
            <a:r>
              <a:rPr spc="-50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reporting</a:t>
            </a:r>
            <a:r>
              <a:rPr spc="-55" dirty="0">
                <a:solidFill>
                  <a:srgbClr val="2E5496"/>
                </a:solidFill>
              </a:rPr>
              <a:t> </a:t>
            </a:r>
            <a:r>
              <a:rPr spc="-10" dirty="0">
                <a:solidFill>
                  <a:srgbClr val="2E5496"/>
                </a:solidFill>
              </a:rPr>
              <a:t>Manager</a:t>
            </a:r>
            <a:endParaRPr spc="-10" dirty="0">
              <a:solidFill>
                <a:srgbClr val="2E5496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078445"/>
            <a:ext cx="9877425" cy="336105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000" b="1" spc="-50" dirty="0">
                <a:latin typeface="Times New Roman" panose="02020603050405020304" charset="0"/>
                <a:cs typeface="Times New Roman" panose="02020603050405020304" charset="0"/>
              </a:rPr>
              <a:t>Team</a:t>
            </a:r>
            <a:r>
              <a:rPr sz="2000" b="1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Structure</a:t>
            </a:r>
            <a:r>
              <a:rPr sz="2000" b="1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(Virtual</a:t>
            </a:r>
            <a:r>
              <a:rPr sz="2000" b="1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Internship</a:t>
            </a:r>
            <a:r>
              <a:rPr sz="2000" b="1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Setup)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Interns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work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on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assigned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modules/tasks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Weekly</a:t>
            </a:r>
            <a:r>
              <a:rPr sz="2000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progress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tracking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000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review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Reporting</a:t>
            </a:r>
            <a:r>
              <a:rPr sz="2000" b="1" spc="-1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Manager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6664960" indent="228600">
              <a:lnSpc>
                <a:spcPts val="3810"/>
              </a:lnSpc>
              <a:spcBef>
                <a:spcPts val="23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Bhanu</a:t>
            </a:r>
            <a:r>
              <a:rPr sz="2000" b="1" spc="-1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Prakash</a:t>
            </a:r>
            <a:r>
              <a:rPr sz="2000" b="1" spc="-10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20" dirty="0">
                <a:latin typeface="Times New Roman" panose="02020603050405020304" charset="0"/>
                <a:cs typeface="Times New Roman" panose="02020603050405020304" charset="0"/>
              </a:rPr>
              <a:t>Reddy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My</a:t>
            </a:r>
            <a:r>
              <a:rPr sz="2000" b="1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Reporting</a:t>
            </a:r>
            <a:r>
              <a:rPr sz="2000" b="1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Process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35" dirty="0">
                <a:latin typeface="Times New Roman" panose="02020603050405020304" charset="0"/>
                <a:cs typeface="Times New Roman" panose="02020603050405020304" charset="0"/>
              </a:rPr>
              <a:t>Task</a:t>
            </a:r>
            <a:r>
              <a:rPr sz="20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assignment</a:t>
            </a:r>
            <a:r>
              <a:rPr sz="20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sz="20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learning</a:t>
            </a:r>
            <a:r>
              <a:rPr sz="20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resources</a:t>
            </a:r>
            <a:r>
              <a:rPr sz="20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sz="20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implementation</a:t>
            </a:r>
            <a:r>
              <a:rPr sz="20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sz="20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submission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Regular</a:t>
            </a:r>
            <a:r>
              <a:rPr sz="2000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feedback</a:t>
            </a:r>
            <a:r>
              <a:rPr sz="2000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corrections</a:t>
            </a:r>
            <a:r>
              <a:rPr sz="2000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improve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work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quality</a:t>
            </a:r>
            <a:endParaRPr sz="20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4967" rIns="0" bIns="0" rtlCol="0">
            <a:spAutoFit/>
          </a:bodyPr>
          <a:lstStyle/>
          <a:p>
            <a:pPr marL="5232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E5496"/>
                </a:solidFill>
              </a:rPr>
              <a:t>Challenges</a:t>
            </a:r>
            <a:r>
              <a:rPr spc="-55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Faced</a:t>
            </a:r>
            <a:r>
              <a:rPr spc="-50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in</a:t>
            </a:r>
            <a:r>
              <a:rPr spc="-50" dirty="0">
                <a:solidFill>
                  <a:srgbClr val="2E5496"/>
                </a:solidFill>
              </a:rPr>
              <a:t> </a:t>
            </a:r>
            <a:r>
              <a:rPr spc="-10" dirty="0">
                <a:solidFill>
                  <a:srgbClr val="2E5496"/>
                </a:solidFill>
              </a:rPr>
              <a:t>Internship</a:t>
            </a:r>
            <a:endParaRPr spc="-10" dirty="0">
              <a:solidFill>
                <a:srgbClr val="2E5496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077556"/>
            <a:ext cx="9214485" cy="315087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0030" indent="-227330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Balancing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final</a:t>
            </a:r>
            <a:r>
              <a:rPr sz="2000" b="1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year</a:t>
            </a:r>
            <a:r>
              <a:rPr sz="2000" b="1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academics</a:t>
            </a:r>
            <a:r>
              <a:rPr sz="2000" b="1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+</a:t>
            </a:r>
            <a:r>
              <a:rPr sz="2000" b="1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internship</a:t>
            </a:r>
            <a:r>
              <a:rPr sz="2000" b="1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+</a:t>
            </a:r>
            <a:r>
              <a:rPr sz="2000" b="1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placements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Difficulty</a:t>
            </a:r>
            <a:r>
              <a:rPr sz="20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in</a:t>
            </a:r>
            <a:r>
              <a:rPr sz="20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finding</a:t>
            </a:r>
            <a:r>
              <a:rPr sz="2000" b="1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job</a:t>
            </a:r>
            <a:r>
              <a:rPr sz="2000" b="1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opportunities</a:t>
            </a:r>
            <a:r>
              <a:rPr sz="2000" b="1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due</a:t>
            </a:r>
            <a:r>
              <a:rPr sz="20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0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high</a:t>
            </a:r>
            <a:r>
              <a:rPr sz="20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competition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Struggling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crack</a:t>
            </a:r>
            <a:r>
              <a:rPr sz="2000" b="1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technical</a:t>
            </a:r>
            <a:r>
              <a:rPr sz="2000" b="1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interviews</a:t>
            </a:r>
            <a:r>
              <a:rPr sz="2000" b="1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coding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rounds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Improving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resume</a:t>
            </a:r>
            <a:r>
              <a:rPr sz="2000" b="1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&amp;</a:t>
            </a:r>
            <a:r>
              <a:rPr sz="2000" b="1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projects</a:t>
            </a:r>
            <a:r>
              <a:rPr sz="2000" b="1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meet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industry</a:t>
            </a:r>
            <a:r>
              <a:rPr sz="20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expectations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Understanding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AI/ML</a:t>
            </a:r>
            <a:r>
              <a:rPr sz="2000" b="1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concepts</a:t>
            </a:r>
            <a:r>
              <a:rPr sz="2000" b="1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applying</a:t>
            </a:r>
            <a:r>
              <a:rPr sz="20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them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practically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Handling</a:t>
            </a:r>
            <a:r>
              <a:rPr sz="20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time</a:t>
            </a:r>
            <a:r>
              <a:rPr sz="2000" b="1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management</a:t>
            </a:r>
            <a:r>
              <a:rPr sz="2000" b="1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0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meeting</a:t>
            </a:r>
            <a:r>
              <a:rPr sz="20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deadlines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Dealing</a:t>
            </a:r>
            <a:r>
              <a:rPr sz="20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with</a:t>
            </a:r>
            <a:r>
              <a:rPr sz="20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rejections</a:t>
            </a:r>
            <a:r>
              <a:rPr sz="2000" b="1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/</a:t>
            </a:r>
            <a:r>
              <a:rPr sz="2000" b="1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no</a:t>
            </a:r>
            <a:r>
              <a:rPr sz="2000" b="1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replies</a:t>
            </a:r>
            <a:r>
              <a:rPr sz="2000" b="1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from</a:t>
            </a:r>
            <a:r>
              <a:rPr sz="20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companies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Maintaining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consistency</a:t>
            </a:r>
            <a:r>
              <a:rPr sz="2000" b="1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000" b="1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motivation</a:t>
            </a:r>
            <a:r>
              <a:rPr sz="2000" b="1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during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preparation</a:t>
            </a:r>
            <a:endParaRPr sz="20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4967" rIns="0" bIns="0" rtlCol="0">
            <a:spAutoFit/>
          </a:bodyPr>
          <a:lstStyle/>
          <a:p>
            <a:pPr marL="5232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E5496"/>
                </a:solidFill>
              </a:rPr>
              <a:t>Objectives</a:t>
            </a:r>
            <a:r>
              <a:rPr spc="-50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of</a:t>
            </a:r>
            <a:r>
              <a:rPr spc="-50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the</a:t>
            </a:r>
            <a:r>
              <a:rPr spc="-45" dirty="0">
                <a:solidFill>
                  <a:srgbClr val="2E5496"/>
                </a:solidFill>
              </a:rPr>
              <a:t> </a:t>
            </a:r>
            <a:r>
              <a:rPr spc="-20" dirty="0">
                <a:solidFill>
                  <a:srgbClr val="2E5496"/>
                </a:solidFill>
              </a:rPr>
              <a:t>work</a:t>
            </a:r>
            <a:endParaRPr spc="-20" dirty="0">
              <a:solidFill>
                <a:srgbClr val="2E5496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077556"/>
            <a:ext cx="9187815" cy="158115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000" b="1" spc="-10" dirty="0">
                <a:latin typeface="Calibri" panose="020F0502020204030204"/>
                <a:cs typeface="Calibri" panose="020F0502020204030204"/>
              </a:rPr>
              <a:t>Generalized</a:t>
            </a:r>
            <a:r>
              <a:rPr sz="2000" b="1" spc="-1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latin typeface="Calibri" panose="020F0502020204030204"/>
                <a:cs typeface="Calibri" panose="020F0502020204030204"/>
              </a:rPr>
              <a:t>Objectives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Understand</a:t>
            </a:r>
            <a:r>
              <a:rPr sz="20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</a:t>
            </a:r>
            <a:r>
              <a:rPr sz="2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complete</a:t>
            </a:r>
            <a:r>
              <a:rPr sz="2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ML</a:t>
            </a:r>
            <a:r>
              <a:rPr sz="20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pipeline</a:t>
            </a:r>
            <a:r>
              <a:rPr sz="20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from</a:t>
            </a:r>
            <a:r>
              <a:rPr sz="20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data</a:t>
            </a:r>
            <a:r>
              <a:rPr sz="20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to</a:t>
            </a:r>
            <a:r>
              <a:rPr sz="20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evaluation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Build</a:t>
            </a:r>
            <a:r>
              <a:rPr sz="20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small</a:t>
            </a:r>
            <a:r>
              <a:rPr sz="2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working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models</a:t>
            </a:r>
            <a:r>
              <a:rPr sz="20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for</a:t>
            </a:r>
            <a:r>
              <a:rPr sz="20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classification/regression</a:t>
            </a:r>
            <a:r>
              <a:rPr sz="2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tasks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40030" indent="-2273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Improve</a:t>
            </a:r>
            <a:r>
              <a:rPr sz="2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skills</a:t>
            </a:r>
            <a:r>
              <a:rPr sz="20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</a:t>
            </a:r>
            <a:r>
              <a:rPr sz="2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data</a:t>
            </a:r>
            <a:r>
              <a:rPr sz="20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preprocessing</a:t>
            </a:r>
            <a:r>
              <a:rPr sz="2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and</a:t>
            </a:r>
            <a:r>
              <a:rPr sz="2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feature</a:t>
            </a:r>
            <a:r>
              <a:rPr sz="2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engineering</a:t>
            </a:r>
            <a:endParaRPr sz="2000" spc="-1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2272" rIns="0" bIns="0" rtlCol="0">
            <a:spAutoFit/>
          </a:bodyPr>
          <a:lstStyle/>
          <a:p>
            <a:pPr marL="6756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E5496"/>
                </a:solidFill>
              </a:rPr>
              <a:t>Literature</a:t>
            </a:r>
            <a:r>
              <a:rPr spc="-170" dirty="0">
                <a:solidFill>
                  <a:srgbClr val="2E5496"/>
                </a:solidFill>
              </a:rPr>
              <a:t> </a:t>
            </a:r>
            <a:r>
              <a:rPr spc="-10" dirty="0">
                <a:solidFill>
                  <a:srgbClr val="2E5496"/>
                </a:solidFill>
              </a:rPr>
              <a:t>Review</a:t>
            </a:r>
            <a:endParaRPr spc="-10" dirty="0">
              <a:solidFill>
                <a:srgbClr val="2E5496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40" y="990600"/>
            <a:ext cx="10939780" cy="499491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1776095">
              <a:lnSpc>
                <a:spcPct val="136000"/>
              </a:lnSpc>
              <a:spcBef>
                <a:spcPts val="100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Customer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segmentation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is</a:t>
            </a:r>
            <a:r>
              <a:rPr sz="20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an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important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concept</a:t>
            </a:r>
            <a:r>
              <a:rPr sz="20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in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marketing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analytics.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Previous</a:t>
            </a:r>
            <a:r>
              <a:rPr sz="20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studies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show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that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clustering</a:t>
            </a:r>
            <a:r>
              <a:rPr sz="2000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algorithms</a:t>
            </a:r>
            <a:r>
              <a:rPr sz="20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such</a:t>
            </a:r>
            <a:r>
              <a:rPr sz="2000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as: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K-Means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Hierarchical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Clustering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Gaussian</a:t>
            </a:r>
            <a:r>
              <a:rPr sz="20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Mixture</a:t>
            </a:r>
            <a:r>
              <a:rPr sz="20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Models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1630045" indent="227965">
              <a:lnSpc>
                <a:spcPct val="136000"/>
              </a:lnSpc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are</a:t>
            </a:r>
            <a:r>
              <a:rPr sz="2000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commonly</a:t>
            </a:r>
            <a:r>
              <a:rPr sz="2000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used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000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group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customers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based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on</a:t>
            </a:r>
            <a:r>
              <a:rPr sz="2000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purchasing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behavior.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These</a:t>
            </a:r>
            <a:r>
              <a:rPr sz="20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techniques</a:t>
            </a:r>
            <a:r>
              <a:rPr sz="20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help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businesses: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Identify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 high-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value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customers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Understand</a:t>
            </a:r>
            <a:r>
              <a:rPr sz="20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purchasing</a:t>
            </a:r>
            <a:r>
              <a:rPr sz="20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patterns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Improve</a:t>
            </a:r>
            <a:r>
              <a:rPr sz="20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targeted</a:t>
            </a:r>
            <a:r>
              <a:rPr sz="20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marketing</a:t>
            </a:r>
            <a:r>
              <a:rPr sz="20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strategies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20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proposed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system</a:t>
            </a:r>
            <a:r>
              <a:rPr sz="20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applies</a:t>
            </a:r>
            <a:r>
              <a:rPr sz="20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clustering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techniques</a:t>
            </a:r>
            <a:r>
              <a:rPr sz="20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analyze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customer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shopping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behavior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2272" rIns="0" bIns="0" rtlCol="0">
            <a:spAutoFit/>
          </a:bodyPr>
          <a:lstStyle/>
          <a:p>
            <a:pPr marL="6756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E5496"/>
                </a:solidFill>
              </a:rPr>
              <a:t>Problem</a:t>
            </a:r>
            <a:r>
              <a:rPr spc="-125" dirty="0">
                <a:solidFill>
                  <a:srgbClr val="2E5496"/>
                </a:solidFill>
              </a:rPr>
              <a:t> </a:t>
            </a:r>
            <a:r>
              <a:rPr spc="-10" dirty="0">
                <a:solidFill>
                  <a:srgbClr val="2E5496"/>
                </a:solidFill>
              </a:rPr>
              <a:t>Statement</a:t>
            </a:r>
            <a:endParaRPr spc="-10" dirty="0">
              <a:solidFill>
                <a:srgbClr val="2E5496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089748"/>
            <a:ext cx="10146030" cy="314833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1105"/>
              </a:spcBef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Businesses</a:t>
            </a:r>
            <a:r>
              <a:rPr sz="20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often</a:t>
            </a:r>
            <a:r>
              <a:rPr sz="20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struggle</a:t>
            </a:r>
            <a:r>
              <a:rPr sz="20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0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understand</a:t>
            </a:r>
            <a:r>
              <a:rPr sz="20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customer</a:t>
            </a:r>
            <a:r>
              <a:rPr sz="20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behavior</a:t>
            </a:r>
            <a:r>
              <a:rPr sz="20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due</a:t>
            </a:r>
            <a:r>
              <a:rPr sz="20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0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large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amounts</a:t>
            </a:r>
            <a:r>
              <a:rPr sz="20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of</a:t>
            </a:r>
            <a:r>
              <a:rPr sz="20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20" dirty="0">
                <a:latin typeface="Times New Roman" panose="02020603050405020304" charset="0"/>
                <a:cs typeface="Times New Roman" panose="02020603050405020304" charset="0"/>
              </a:rPr>
              <a:t>data.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ts val="3345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Without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proper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analysis,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it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becomes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difficult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</a:rPr>
              <a:t>to: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ts val="3350"/>
              </a:lnSpc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Identify</a:t>
            </a:r>
            <a:r>
              <a:rPr sz="20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valuable</a:t>
            </a:r>
            <a:r>
              <a:rPr sz="20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customers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40030" indent="-227330">
              <a:lnSpc>
                <a:spcPts val="3350"/>
              </a:lnSpc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Personalize</a:t>
            </a:r>
            <a:r>
              <a:rPr sz="20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marketing</a:t>
            </a:r>
            <a:r>
              <a:rPr sz="20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strategies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588635" indent="227330">
              <a:lnSpc>
                <a:spcPts val="3350"/>
              </a:lnSpc>
              <a:spcBef>
                <a:spcPts val="11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Improve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customer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satisfaction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Problem</a:t>
            </a:r>
            <a:r>
              <a:rPr sz="20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Statement: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01600">
              <a:lnSpc>
                <a:spcPts val="2735"/>
              </a:lnSpc>
            </a:pPr>
            <a:r>
              <a:rPr sz="2000" b="1" spc="-95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000" b="1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develop</a:t>
            </a:r>
            <a:r>
              <a:rPr sz="2000" b="1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2000" b="1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machine</a:t>
            </a:r>
            <a:r>
              <a:rPr sz="2000" b="1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learning</a:t>
            </a:r>
            <a:r>
              <a:rPr sz="2000" b="1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system</a:t>
            </a:r>
            <a:r>
              <a:rPr sz="2000" b="1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that</a:t>
            </a:r>
            <a:r>
              <a:rPr sz="2000" b="1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segments</a:t>
            </a:r>
            <a:r>
              <a:rPr sz="2000" b="1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customers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1227455">
              <a:lnSpc>
                <a:spcPct val="70000"/>
              </a:lnSpc>
              <a:spcBef>
                <a:spcPts val="505"/>
              </a:spcBef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based</a:t>
            </a:r>
            <a:r>
              <a:rPr sz="2000" b="1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on</a:t>
            </a:r>
            <a:r>
              <a:rPr sz="2000" b="1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purchasing</a:t>
            </a:r>
            <a:r>
              <a:rPr sz="2000" b="1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behavior</a:t>
            </a:r>
            <a:r>
              <a:rPr sz="2000" b="1" spc="-1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using</a:t>
            </a:r>
            <a:r>
              <a:rPr sz="2000" b="1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unsupervised</a:t>
            </a:r>
            <a:r>
              <a:rPr sz="2000" b="1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learning techniques.</a:t>
            </a:r>
            <a:endParaRPr sz="2000" b="1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2272" rIns="0" bIns="0" rtlCol="0">
            <a:spAutoFit/>
          </a:bodyPr>
          <a:lstStyle/>
          <a:p>
            <a:pPr marL="6756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E5496"/>
                </a:solidFill>
              </a:rPr>
              <a:t>Proposed</a:t>
            </a:r>
            <a:r>
              <a:rPr spc="-70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System</a:t>
            </a:r>
            <a:r>
              <a:rPr spc="-70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/</a:t>
            </a:r>
            <a:r>
              <a:rPr spc="-125" dirty="0">
                <a:solidFill>
                  <a:srgbClr val="2E5496"/>
                </a:solidFill>
              </a:rPr>
              <a:t> </a:t>
            </a:r>
            <a:r>
              <a:rPr spc="-20" dirty="0">
                <a:solidFill>
                  <a:srgbClr val="2E5496"/>
                </a:solidFill>
              </a:rPr>
              <a:t>Work</a:t>
            </a:r>
            <a:endParaRPr spc="-20" dirty="0">
              <a:solidFill>
                <a:srgbClr val="2E5496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082128"/>
            <a:ext cx="7816850" cy="4418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performs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Customer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Segmentation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Clustering</a:t>
            </a:r>
            <a:r>
              <a:rPr sz="20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Algorithms.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follows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pipeline: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Collection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Preprocessing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Exploratory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0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Analysis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Feature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Engineering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20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Training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Clustering</a:t>
            </a:r>
            <a:r>
              <a:rPr sz="20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Algorithms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Evaluation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Visualization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Customer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Segments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groups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customers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meaningful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clusters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shopping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behavior.</a:t>
            </a:r>
            <a:endParaRPr sz="2000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2272" rIns="0" bIns="0" rtlCol="0">
            <a:spAutoFit/>
          </a:bodyPr>
          <a:lstStyle/>
          <a:p>
            <a:pPr marL="6756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E5496"/>
                </a:solidFill>
              </a:rPr>
              <a:t>System</a:t>
            </a:r>
            <a:r>
              <a:rPr spc="-60" dirty="0">
                <a:solidFill>
                  <a:srgbClr val="2E5496"/>
                </a:solidFill>
              </a:rPr>
              <a:t> </a:t>
            </a:r>
            <a:r>
              <a:rPr spc="-10" dirty="0">
                <a:solidFill>
                  <a:srgbClr val="2E5496"/>
                </a:solidFill>
              </a:rPr>
              <a:t>Requirements</a:t>
            </a:r>
            <a:endParaRPr spc="-10" dirty="0">
              <a:solidFill>
                <a:srgbClr val="2E5496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40" y="1082040"/>
            <a:ext cx="7901305" cy="491553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Hardware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Requirements: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Laptop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PC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Minimum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8GB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RAM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marR="654050" indent="227965">
              <a:lnSpc>
                <a:spcPct val="136000"/>
              </a:lnSpc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Internet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connection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Software</a:t>
            </a: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Requirements: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Python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Jupyter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Notebook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VS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Code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Python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 Libraries: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Pandas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NumPy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Matplotlib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Seaborn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Scikit-learn</a:t>
            </a:r>
            <a:endParaRPr sz="2000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2272" rIns="0" bIns="0" rtlCol="0">
            <a:spAutoFit/>
          </a:bodyPr>
          <a:lstStyle/>
          <a:p>
            <a:pPr marL="6756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E5496"/>
                </a:solidFill>
              </a:rPr>
              <a:t>Advantages</a:t>
            </a:r>
            <a:r>
              <a:rPr spc="-80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of</a:t>
            </a:r>
            <a:r>
              <a:rPr spc="-75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Proposed</a:t>
            </a:r>
            <a:r>
              <a:rPr spc="-75" dirty="0">
                <a:solidFill>
                  <a:srgbClr val="2E5496"/>
                </a:solidFill>
              </a:rPr>
              <a:t> </a:t>
            </a:r>
            <a:r>
              <a:rPr spc="-10" dirty="0">
                <a:solidFill>
                  <a:srgbClr val="2E5496"/>
                </a:solidFill>
              </a:rPr>
              <a:t>System/Work</a:t>
            </a:r>
            <a:endParaRPr spc="-10" dirty="0">
              <a:solidFill>
                <a:srgbClr val="2E5496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082637"/>
            <a:ext cx="5654675" cy="319659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Advantages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Customer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Segmentation: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Helps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businesses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understand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customer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behavior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Identifies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high-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value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customers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Improves</a:t>
            </a:r>
            <a:r>
              <a:rPr sz="20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targeted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marketing</a:t>
            </a:r>
            <a:r>
              <a:rPr sz="20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strategies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Enhances</a:t>
            </a:r>
            <a:r>
              <a:rPr sz="20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customer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satisfaction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Supports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data-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driven</a:t>
            </a: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business</a:t>
            </a: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decisions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helps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companies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optimize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marketing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strategies.</a:t>
            </a:r>
            <a:endParaRPr sz="2000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2272" rIns="0" bIns="0" rtlCol="0">
            <a:spAutoFit/>
          </a:bodyPr>
          <a:lstStyle/>
          <a:p>
            <a:pPr marL="6756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E5496"/>
                </a:solidFill>
              </a:rPr>
              <a:t>System</a:t>
            </a:r>
            <a:r>
              <a:rPr spc="-60" dirty="0">
                <a:solidFill>
                  <a:srgbClr val="2E5496"/>
                </a:solidFill>
              </a:rPr>
              <a:t> </a:t>
            </a:r>
            <a:r>
              <a:rPr spc="-10" dirty="0">
                <a:solidFill>
                  <a:srgbClr val="2E5496"/>
                </a:solidFill>
              </a:rPr>
              <a:t>Design</a:t>
            </a:r>
            <a:endParaRPr spc="-10" dirty="0">
              <a:solidFill>
                <a:srgbClr val="2E5496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40" y="1071245"/>
            <a:ext cx="10742930" cy="508571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Workflow: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Collection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ct val="100000"/>
              </a:lnSpc>
              <a:spcBef>
                <a:spcPts val="855"/>
              </a:spcBef>
            </a:pP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↓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Preprocessing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ct val="100000"/>
              </a:lnSpc>
              <a:spcBef>
                <a:spcPts val="855"/>
              </a:spcBef>
            </a:pP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↓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Exploratory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Analysis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ct val="100000"/>
              </a:lnSpc>
              <a:spcBef>
                <a:spcPts val="855"/>
              </a:spcBef>
            </a:pP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↓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Feature</a:t>
            </a:r>
            <a:r>
              <a:rPr sz="1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Engineering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ct val="100000"/>
              </a:lnSpc>
              <a:spcBef>
                <a:spcPts val="855"/>
              </a:spcBef>
            </a:pP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↓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Clustering</a:t>
            </a:r>
            <a:r>
              <a:rPr sz="1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1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Training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ct val="100000"/>
              </a:lnSpc>
              <a:spcBef>
                <a:spcPts val="855"/>
              </a:spcBef>
            </a:pP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↓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Comparison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ct val="100000"/>
              </a:lnSpc>
              <a:spcBef>
                <a:spcPts val="855"/>
              </a:spcBef>
            </a:pP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↓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Customer</a:t>
            </a:r>
            <a:r>
              <a:rPr sz="1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Segment</a:t>
            </a:r>
            <a:r>
              <a:rPr sz="1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Visualization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 marR="2985770" indent="457200">
              <a:lnSpc>
                <a:spcPct val="159000"/>
              </a:lnSpc>
            </a:pP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↓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Business</a:t>
            </a:r>
            <a:r>
              <a:rPr sz="1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Insights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1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workflow</a:t>
            </a:r>
            <a:r>
              <a:rPr sz="1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represents</a:t>
            </a:r>
            <a:r>
              <a:rPr sz="1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complete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1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pipeline.</a:t>
            </a:r>
            <a:endParaRPr sz="1400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2272" rIns="0" bIns="0" rtlCol="0">
            <a:spAutoFit/>
          </a:bodyPr>
          <a:lstStyle/>
          <a:p>
            <a:pPr marL="6756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E5496"/>
                </a:solidFill>
              </a:rPr>
              <a:t>System</a:t>
            </a:r>
            <a:r>
              <a:rPr spc="-60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Implementation</a:t>
            </a:r>
            <a:r>
              <a:rPr spc="-60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(At</a:t>
            </a:r>
            <a:r>
              <a:rPr spc="-60" dirty="0">
                <a:solidFill>
                  <a:srgbClr val="2E5496"/>
                </a:solidFill>
              </a:rPr>
              <a:t> </a:t>
            </a:r>
            <a:r>
              <a:rPr dirty="0">
                <a:solidFill>
                  <a:srgbClr val="2E5496"/>
                </a:solidFill>
              </a:rPr>
              <a:t>least</a:t>
            </a:r>
            <a:r>
              <a:rPr spc="-55" dirty="0">
                <a:solidFill>
                  <a:srgbClr val="2E5496"/>
                </a:solidFill>
              </a:rPr>
              <a:t> </a:t>
            </a:r>
            <a:r>
              <a:rPr spc="-20" dirty="0">
                <a:solidFill>
                  <a:srgbClr val="2E5496"/>
                </a:solidFill>
              </a:rPr>
              <a:t>50%)</a:t>
            </a:r>
            <a:endParaRPr spc="-20" dirty="0">
              <a:solidFill>
                <a:srgbClr val="2E5496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193253"/>
            <a:ext cx="2974340" cy="4580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implementation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included: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preprocessing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cleaning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212090">
              <a:lnSpc>
                <a:spcPct val="15900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Handling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missing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values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formatting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data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Exploratory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2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Analysis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Distribution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plots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Correlation</a:t>
            </a:r>
            <a:r>
              <a:rPr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analysis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1449070" indent="227965">
              <a:lnSpc>
                <a:spcPct val="159000"/>
              </a:lnSpc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Feature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visualization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Feature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Engineering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5080" indent="227965">
              <a:lnSpc>
                <a:spcPct val="159000"/>
              </a:lnSpc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Creating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new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features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spending Clustering</a:t>
            </a:r>
            <a:r>
              <a:rPr sz="1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Algorithms</a:t>
            </a:r>
            <a:r>
              <a:rPr sz="1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Implemented: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50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K-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Means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Clustering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Hierarchical</a:t>
            </a:r>
            <a:r>
              <a:rPr sz="1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Clustering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Gaussian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Mixture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Model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Comparison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was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done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using: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Silhouette</a:t>
            </a:r>
            <a:r>
              <a:rPr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Score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Davies-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Bouldin</a:t>
            </a:r>
            <a:r>
              <a:rPr sz="1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Index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2272" rIns="0" bIns="0" rtlCol="0">
            <a:spAutoFit/>
          </a:bodyPr>
          <a:lstStyle/>
          <a:p>
            <a:pPr marL="6756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E5496"/>
                </a:solidFill>
              </a:rPr>
              <a:t>System</a:t>
            </a:r>
            <a:r>
              <a:rPr spc="-60" dirty="0">
                <a:solidFill>
                  <a:srgbClr val="2E5496"/>
                </a:solidFill>
              </a:rPr>
              <a:t> </a:t>
            </a:r>
            <a:r>
              <a:rPr spc="-35" dirty="0">
                <a:solidFill>
                  <a:srgbClr val="2E5496"/>
                </a:solidFill>
              </a:rPr>
              <a:t>Testing</a:t>
            </a:r>
            <a:endParaRPr spc="-35" dirty="0">
              <a:solidFill>
                <a:srgbClr val="2E5496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082637"/>
            <a:ext cx="5314950" cy="452437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Testing: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Evaluated</a:t>
            </a:r>
            <a:r>
              <a:rPr sz="1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clustering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performance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852930" indent="227965">
              <a:lnSpc>
                <a:spcPct val="142000"/>
              </a:lnSpc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Ensured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correct</a:t>
            </a:r>
            <a:r>
              <a:rPr sz="1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customer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segmentation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Metrics</a:t>
            </a:r>
            <a:r>
              <a:rPr sz="1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Used: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2072640" indent="227965">
              <a:lnSpc>
                <a:spcPct val="142000"/>
              </a:lnSpc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Silhouette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Score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(↑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better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clustering) Validation: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362075" indent="227965">
              <a:lnSpc>
                <a:spcPct val="142000"/>
              </a:lnSpc>
              <a:buFont typeface="Arial MT"/>
              <a:buChar char="•"/>
              <a:tabLst>
                <a:tab pos="240665" algn="l"/>
              </a:tabLst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Visualized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clusters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scatter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plots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PCA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Results: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K-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Means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clear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well-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defined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clusters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Hierarchical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meaningful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but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slower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1797050" indent="227965">
              <a:lnSpc>
                <a:spcPct val="142000"/>
              </a:lnSpc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GMM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handled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overlapping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well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Outcome: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successfully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grouped</a:t>
            </a:r>
            <a:r>
              <a:rPr sz="1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customers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1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distinct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segments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15</a:t>
            </a:r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2272" rIns="0" bIns="0" rtlCol="0">
            <a:spAutoFit/>
          </a:bodyPr>
          <a:lstStyle/>
          <a:p>
            <a:pPr marL="67564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2E5496"/>
                </a:solidFill>
              </a:rPr>
              <a:t>Conclusion</a:t>
            </a:r>
            <a:endParaRPr spc="-10" dirty="0">
              <a:solidFill>
                <a:srgbClr val="2E5496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2265" y="762000"/>
            <a:ext cx="11394440" cy="504444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8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successfully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implemented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Customer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Segmentation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techniques.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1300" marR="278130" indent="-228600">
              <a:lnSpc>
                <a:spcPts val="194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Various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clustering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algorithms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like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K-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Means,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Hierarchical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Clustering,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Gaussian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Mixture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Models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were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applied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compared.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helps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in: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97865" lvl="1" indent="-22796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Identifying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high-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value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customers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97865" lvl="1" indent="-22796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Understanding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purchasing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behavior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97865" lvl="1" indent="-22796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Improving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targeted</a:t>
            </a:r>
            <a:r>
              <a:rPr sz="20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marketing</a:t>
            </a:r>
            <a:r>
              <a:rPr sz="20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strategies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Key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 Learnings: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97865" lvl="1" indent="-22796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Gained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hands-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experience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complete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ML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pipeline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97865" lvl="1" indent="-22796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Improved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skills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preprocessing,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visualization,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evaluation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97865" lvl="1" indent="-22796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Understood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importance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choosing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right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algorithm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Final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Outcome: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97865" lvl="1" indent="-22796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developed</a:t>
            </a: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valuable</a:t>
            </a: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business</a:t>
            </a: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insights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97865" lvl="1" indent="-22796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companies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make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data-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driven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decisions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16</a:t>
            </a:r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2272" rIns="0" bIns="0" rtlCol="0">
            <a:spAutoFit/>
          </a:bodyPr>
          <a:lstStyle/>
          <a:p>
            <a:pPr marL="67564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2E5496"/>
                </a:solidFill>
              </a:rPr>
              <a:t>References</a:t>
            </a:r>
            <a:endParaRPr spc="-10" dirty="0">
              <a:solidFill>
                <a:srgbClr val="2E5496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40" y="1089660"/>
            <a:ext cx="7787005" cy="310832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40030" marR="738505" indent="-227330">
              <a:lnSpc>
                <a:spcPct val="70000"/>
              </a:lnSpc>
              <a:spcBef>
                <a:spcPts val="110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MacQueen,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J.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(1967)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“Some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Methods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Classification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and 	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Analysis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Multivariate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Observations”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(K-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Means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Clustering)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030" marR="703580" indent="-227330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Rousseeuw,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70" dirty="0">
                <a:latin typeface="Times New Roman" panose="02020603050405020304"/>
                <a:cs typeface="Times New Roman" panose="02020603050405020304"/>
              </a:rPr>
              <a:t>P.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J.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(1987)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“Silhouettes:</a:t>
            </a:r>
            <a:r>
              <a:rPr sz="20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Graphical</a:t>
            </a:r>
            <a:r>
              <a:rPr sz="20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Aid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the 	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Interpretation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Cluster</a:t>
            </a:r>
            <a:r>
              <a:rPr sz="20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Analysis”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030" marR="542925" indent="-227330">
              <a:lnSpc>
                <a:spcPct val="7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Davies,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D.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L.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Bouldin,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D.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 W.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(1979)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“A</a:t>
            </a:r>
            <a:r>
              <a:rPr sz="20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Cluster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Separation 	Measure”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030" marR="5080" indent="-227330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Dempster,</a:t>
            </a:r>
            <a:r>
              <a:rPr sz="20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A.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P.,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Laird,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N.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M.,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Rubin,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D.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B.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(1977)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“Maximum 	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Likelihood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Incomplete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via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EM</a:t>
            </a:r>
            <a:r>
              <a:rPr sz="20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Algorithm”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030" indent="-227330">
              <a:lnSpc>
                <a:spcPts val="3345"/>
              </a:lnSpc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Jain,</a:t>
            </a:r>
            <a:r>
              <a:rPr sz="20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A.</a:t>
            </a: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K.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(2010)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“Data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Clustering: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50</a:t>
            </a:r>
            <a:r>
              <a:rPr sz="200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Years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Beyond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K-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Means”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0030" indent="-227330">
              <a:lnSpc>
                <a:spcPts val="3355"/>
              </a:lnSpc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Xu,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R.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20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Wunsch,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D.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(2005)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“Survey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Clustering</a:t>
            </a:r>
            <a:r>
              <a:rPr sz="20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Algorithms”</a:t>
            </a:r>
            <a:endParaRPr sz="2000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094719" y="6463665"/>
            <a:ext cx="1803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842" rIns="0" bIns="0" rtlCol="0">
            <a:spAutoFit/>
          </a:bodyPr>
          <a:lstStyle/>
          <a:p>
            <a:pPr marL="523240">
              <a:lnSpc>
                <a:spcPct val="100000"/>
              </a:lnSpc>
              <a:spcBef>
                <a:spcPts val="105"/>
              </a:spcBef>
            </a:pPr>
            <a:r>
              <a:rPr dirty="0"/>
              <a:t>Internship</a:t>
            </a:r>
            <a:r>
              <a:rPr spc="-65" dirty="0"/>
              <a:t> </a:t>
            </a:r>
            <a:r>
              <a:rPr dirty="0"/>
              <a:t>Road</a:t>
            </a:r>
            <a:r>
              <a:rPr spc="-60" dirty="0"/>
              <a:t> </a:t>
            </a:r>
            <a:r>
              <a:rPr spc="-25" dirty="0"/>
              <a:t>Map</a:t>
            </a:r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32889" y="2279650"/>
          <a:ext cx="8622030" cy="3061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Review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Work</a:t>
                      </a:r>
                      <a:r>
                        <a:rPr sz="1800" b="1" spc="-10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Done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Review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1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7962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Company</a:t>
                      </a:r>
                      <a:r>
                        <a:rPr sz="1800" spc="-10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study,Python</a:t>
                      </a:r>
                      <a:r>
                        <a:rPr sz="1800" spc="-9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basics,AI/ML understanding,tools</a:t>
                      </a:r>
                      <a:r>
                        <a:rPr sz="1800" spc="-9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setup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Review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r>
                        <a:rPr sz="1800" spc="-9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preprocessing,EDA,visualization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Review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3423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Feature</a:t>
                      </a:r>
                      <a:r>
                        <a:rPr sz="1800" spc="-7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engineering,clustering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models,model</a:t>
                      </a:r>
                      <a:r>
                        <a:rPr sz="1800" spc="-8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comparison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Review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4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Cluster</a:t>
                      </a:r>
                      <a:r>
                        <a:rPr sz="1800" spc="-8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analysis,PCA</a:t>
                      </a:r>
                      <a:r>
                        <a:rPr sz="1800" spc="-8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visualization,insights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Review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5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616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Documentation,GitHub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submission,final presentation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094719" y="6463665"/>
            <a:ext cx="1803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Github</a:t>
            </a:r>
            <a:r>
              <a:rPr spc="-30" dirty="0"/>
              <a:t> </a:t>
            </a:r>
            <a:r>
              <a:rPr spc="-20" dirty="0"/>
              <a:t>Link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3566274" y="2322080"/>
            <a:ext cx="49212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heavy" spc="-2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 panose="020F0502020204030204"/>
                <a:cs typeface="Calibri" panose="020F0502020204030204"/>
                <a:hlinkClick r:id="rId1"/>
              </a:rPr>
              <a:t>Veda2808/CSE7302-</a:t>
            </a:r>
            <a:r>
              <a:rPr sz="2800" u="heavy" spc="-2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 panose="020F0502020204030204"/>
                <a:cs typeface="Calibri" panose="020F0502020204030204"/>
                <a:hlinkClick r:id="rId1"/>
              </a:rPr>
              <a:t>--</a:t>
            </a:r>
            <a:r>
              <a:rPr sz="2800" u="heavy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 panose="020F0502020204030204"/>
                <a:cs typeface="Calibri" panose="020F0502020204030204"/>
                <a:hlinkClick r:id="rId1"/>
              </a:rPr>
              <a:t>INTERNSHIP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18</a:t>
            </a:r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5090" y="2444381"/>
            <a:ext cx="440182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62835" algn="l"/>
                <a:tab pos="3829685" algn="l"/>
              </a:tabLst>
            </a:pPr>
            <a:r>
              <a:rPr sz="6600" b="0" spc="-10" dirty="0">
                <a:solidFill>
                  <a:srgbClr val="A71180"/>
                </a:solidFill>
                <a:latin typeface="Times New Roman" panose="02020603050405020304"/>
                <a:cs typeface="Times New Roman" panose="02020603050405020304"/>
              </a:rPr>
              <a:t>Thank</a:t>
            </a:r>
            <a:r>
              <a:rPr sz="6600" b="0" dirty="0">
                <a:solidFill>
                  <a:srgbClr val="A7118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6600" b="0" spc="-25" dirty="0">
                <a:solidFill>
                  <a:srgbClr val="A71180"/>
                </a:solidFill>
                <a:latin typeface="Times New Roman" panose="02020603050405020304"/>
                <a:cs typeface="Times New Roman" panose="02020603050405020304"/>
              </a:rPr>
              <a:t>you</a:t>
            </a:r>
            <a:r>
              <a:rPr sz="6600" b="0" dirty="0">
                <a:solidFill>
                  <a:srgbClr val="A7118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6600" b="0" spc="-25" dirty="0">
                <a:solidFill>
                  <a:srgbClr val="A71180"/>
                </a:solidFill>
                <a:latin typeface="Times New Roman" panose="02020603050405020304"/>
                <a:cs typeface="Times New Roman" panose="02020603050405020304"/>
              </a:rPr>
              <a:t>!!</a:t>
            </a:r>
            <a:endParaRPr sz="6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19</a:t>
            </a:r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7808</Words>
  <Application>WPS Presentation</Application>
  <PresentationFormat>On-screen Show (4:3)</PresentationFormat>
  <Paragraphs>323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SimSun</vt:lpstr>
      <vt:lpstr>Wingdings</vt:lpstr>
      <vt:lpstr>Times New Roman</vt:lpstr>
      <vt:lpstr>Calibri</vt:lpstr>
      <vt:lpstr>Cambria</vt:lpstr>
      <vt:lpstr>Wingdings</vt:lpstr>
      <vt:lpstr>Arial MT</vt:lpstr>
      <vt:lpstr>Microsoft YaHei</vt:lpstr>
      <vt:lpstr>Arial Unicode MS</vt:lpstr>
      <vt:lpstr>Times New Roman</vt:lpstr>
      <vt:lpstr>Office Theme</vt:lpstr>
      <vt:lpstr>CSE7302 - INTERNSHIP</vt:lpstr>
      <vt:lpstr>Content</vt:lpstr>
      <vt:lpstr>About Company or Organization</vt:lpstr>
      <vt:lpstr>Company Legacy / Vision:</vt:lpstr>
      <vt:lpstr>Working domain or the technology</vt:lpstr>
      <vt:lpstr>Technologies / Tools Used:</vt:lpstr>
      <vt:lpstr>About your team and reporting Manager</vt:lpstr>
      <vt:lpstr>Challenges Faced in Internship</vt:lpstr>
      <vt:lpstr>Objectives of the work</vt:lpstr>
      <vt:lpstr>Literature Review</vt:lpstr>
      <vt:lpstr>Problem Statement</vt:lpstr>
      <vt:lpstr>Proposed System / Work</vt:lpstr>
      <vt:lpstr>System Requirements</vt:lpstr>
      <vt:lpstr>Advantages of Proposed System/Work</vt:lpstr>
      <vt:lpstr>System Design</vt:lpstr>
      <vt:lpstr>System Implementation (At least 50%)</vt:lpstr>
      <vt:lpstr>System Testing</vt:lpstr>
      <vt:lpstr>Conclusion</vt:lpstr>
      <vt:lpstr>References</vt:lpstr>
      <vt:lpstr>Internship Road Map</vt:lpstr>
      <vt:lpstr>Github Link</vt:lpstr>
      <vt:lpstr>Thank	you	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CSE7302 - INTERNSHIP</dc:title>
  <dc:creator/>
  <cp:lastModifiedBy>Jinka Vedasree</cp:lastModifiedBy>
  <cp:revision>2</cp:revision>
  <dcterms:created xsi:type="dcterms:W3CDTF">2026-04-01T09:17:59Z</dcterms:created>
  <dcterms:modified xsi:type="dcterms:W3CDTF">2026-04-01T09:18:26Z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2026-04-01T05:30:00Z</vt:filetime>
  </property>
  <property fmtid="{D5CDD505-2E9C-101B-9397-08002B2CF9AE}" pid="3" name="LastSaved">
    <vt:filetime>2026-04-01T05:30:00Z</vt:filetime>
  </property>
  <property fmtid="{D5CDD505-2E9C-101B-9397-08002B2CF9AE}" pid="4" name="Producer">
    <vt:lpwstr>3-Heights™ PDF Merge Split Shell 6.12.1.11 (http://www.pdf-tools.com)</vt:lpwstr>
  </property>
  <property fmtid="{D5CDD505-2E9C-101B-9397-08002B2CF9AE}" pid="5" name="ICV">
    <vt:lpwstr>B1F2C5256A334BD8A2ED8EE823408D78_13</vt:lpwstr>
  </property>
  <property fmtid="{D5CDD505-2E9C-101B-9397-08002B2CF9AE}" pid="6" name="KSOProductBuildVer">
    <vt:lpwstr>1033-12.2.0.23196</vt:lpwstr>
  </property>
</Properties>
</file>