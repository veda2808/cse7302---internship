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260" r:id="rId3"/>
    <p:sldId id="261" r:id="rId4"/>
    <p:sldId id="270" r:id="rId5"/>
    <p:sldId id="262" r:id="rId6"/>
    <p:sldId id="271" r:id="rId7"/>
    <p:sldId id="263" r:id="rId8"/>
    <p:sldId id="264" r:id="rId9"/>
    <p:sldId id="265" r:id="rId10"/>
    <p:sldId id="266" r:id="rId11"/>
    <p:sldId id="267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4" autoAdjust="0"/>
    <p:restoredTop sz="94660"/>
  </p:normalViewPr>
  <p:slideViewPr>
    <p:cSldViewPr snapToGrid="0">
      <p:cViewPr varScale="1">
        <p:scale>
          <a:sx n="66" d="100"/>
          <a:sy n="66" d="100"/>
        </p:scale>
        <p:origin x="6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/>
      <dgm:spPr/>
      <dgm:t>
        <a:bodyPr/>
        <a:lstStyle/>
        <a:p>
          <a:pPr algn="l">
            <a:buFont typeface="Arial" panose="020B0604020202020204" pitchFamily="34" charset="0"/>
            <a:buNone/>
          </a:pPr>
          <a:r>
            <a:rPr lang="en-US" dirty="0"/>
            <a:t>1.Company study </a:t>
          </a:r>
        </a:p>
        <a:p>
          <a:pPr algn="l">
            <a:buFont typeface="Arial" panose="020B0604020202020204" pitchFamily="34" charset="0"/>
            <a:buNone/>
          </a:pPr>
          <a:r>
            <a:rPr lang="en-US" b="0" dirty="0"/>
            <a:t>2.Python programming basics </a:t>
          </a:r>
        </a:p>
        <a:p>
          <a:pPr algn="l">
            <a:buFont typeface="Arial" panose="020B0604020202020204" pitchFamily="34" charset="0"/>
            <a:buNone/>
          </a:pPr>
          <a:r>
            <a:rPr lang="en-US" dirty="0"/>
            <a:t>3.AI/ML domain understanding </a:t>
          </a:r>
        </a:p>
        <a:p>
          <a:pPr algn="l">
            <a:buFont typeface="Arial" panose="020B0604020202020204" pitchFamily="34" charset="0"/>
            <a:buNone/>
          </a:pPr>
          <a:r>
            <a:rPr lang="en-US" dirty="0"/>
            <a:t>4.Tools setup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0" custT="1"/>
      <dgm:spPr/>
      <dgm:t>
        <a:bodyPr/>
        <a:lstStyle/>
        <a:p>
          <a:pPr algn="l"/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1.Data collection</a:t>
          </a:r>
        </a:p>
        <a:p>
          <a:pPr algn="l"/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2.Data cleaning</a:t>
          </a:r>
        </a:p>
        <a:p>
          <a:pPr algn="l"/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3.Preprocessing basics</a:t>
          </a:r>
        </a:p>
        <a:p>
          <a:pPr algn="r"/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0" custT="1"/>
      <dgm:spPr/>
      <dgm:t>
        <a:bodyPr/>
        <a:lstStyle/>
        <a:p>
          <a:pPr algn="l"/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1.Implement ML models (classification/regression) + training</a:t>
          </a:r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EB913A1E-B939-4FF8-99F9-6357165F0153}">
      <dgm:prSet custT="1"/>
      <dgm:spPr/>
      <dgm:t>
        <a:bodyPr/>
        <a:lstStyle/>
        <a:p>
          <a:pPr algn="l"/>
          <a:r>
            <a:rPr lang="en-US" sz="1600" dirty="0"/>
            <a:t>1.Model evaluation  2.performance metrics  3.improvement/tuning</a:t>
          </a:r>
          <a:endParaRPr lang="en-IN" sz="1600" dirty="0"/>
        </a:p>
      </dgm:t>
    </dgm:pt>
    <dgm:pt modelId="{3B73E279-2614-422F-8C7F-C02BD7998867}" type="parTrans" cxnId="{492E6D61-CCFD-4CF5-B6F8-CD071DF473EF}">
      <dgm:prSet/>
      <dgm:spPr/>
      <dgm:t>
        <a:bodyPr/>
        <a:lstStyle/>
        <a:p>
          <a:endParaRPr lang="en-IN"/>
        </a:p>
      </dgm:t>
    </dgm:pt>
    <dgm:pt modelId="{AB73FB37-6A2F-4749-A9AA-8D8993AB3187}" type="sibTrans" cxnId="{492E6D61-CCFD-4CF5-B6F8-CD071DF473EF}">
      <dgm:prSet/>
      <dgm:spPr/>
      <dgm:t>
        <a:bodyPr/>
        <a:lstStyle/>
        <a:p>
          <a:endParaRPr lang="en-IN"/>
        </a:p>
      </dgm:t>
    </dgm:pt>
    <dgm:pt modelId="{7DE2FC7A-7F2A-4D18-9725-541C9B4F3196}">
      <dgm:prSet custT="1"/>
      <dgm:spPr/>
      <dgm:t>
        <a:bodyPr/>
        <a:lstStyle/>
        <a:p>
          <a:pPr algn="l"/>
          <a:r>
            <a:rPr lang="en-US" sz="1600" dirty="0"/>
            <a:t>1.Mini project completion  2.documentation</a:t>
          </a:r>
        </a:p>
        <a:p>
          <a:pPr algn="l"/>
          <a:r>
            <a:rPr lang="en-US" sz="1600" dirty="0"/>
            <a:t> 3.final presentation</a:t>
          </a:r>
          <a:endParaRPr lang="en-IN" sz="1600" dirty="0"/>
        </a:p>
      </dgm:t>
    </dgm:pt>
    <dgm:pt modelId="{C51468DF-D21C-4E5C-8E03-2C8034DA881C}" type="parTrans" cxnId="{ACD876A9-6708-4267-B5FC-A87E50AD1A67}">
      <dgm:prSet/>
      <dgm:spPr/>
      <dgm:t>
        <a:bodyPr/>
        <a:lstStyle/>
        <a:p>
          <a:endParaRPr lang="en-IN"/>
        </a:p>
      </dgm:t>
    </dgm:pt>
    <dgm:pt modelId="{6C82CB86-1DE2-4EC3-9D9A-A6C1877D6785}" type="sibTrans" cxnId="{ACD876A9-6708-4267-B5FC-A87E50AD1A67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4FD9B95E-6607-4D17-BC56-D524B4CDC1F0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FF4BA9C8-0AD1-4544-9FEC-A9E09983BAF1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9069612-B169-47BA-8F8B-5A8B15F5B592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4AFAF622-DB52-4007-B777-69D2C743058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38A92635-8DB5-4030-85F3-E7F612963BE7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5024C9A-E7A9-4D89-9463-9FE26905DFA9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E14EAB72-FFC4-4D22-BB1F-B5FCAB47D489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 custLinFactNeighborX="514" custLinFactNeighborY="-1127"/>
      <dgm:spPr/>
    </dgm:pt>
    <dgm:pt modelId="{47E047BA-3AB9-46AD-AE55-E62F2E25D696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803AD32-AB32-4C13-8F5D-952B9E2BB1CC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D1E0BF74-115A-4106-AB22-0F3B18D1DABF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D337CC4A-6DBC-4BC2-98B7-B94DB1DF231A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E562AEDA-0956-4E5C-ACDD-0EB506610D38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AA6A53F4-6F8B-4491-9869-8F7370CE5670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 custLinFactNeighborX="-2259" custLinFactNeighborY="-1581"/>
      <dgm:spPr/>
    </dgm:pt>
    <dgm:pt modelId="{840D3CCE-7581-42CF-903C-B01AC91FF203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E9BAC5A-DB17-4A4B-AC85-9F3979DA1FE1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CD2CE600-0494-45C8-AD9B-30DDB7861C58}" type="presOf" srcId="{73DB572E-062D-41AD-8033-D361B8E583DB}" destId="{47E047BA-3AB9-46AD-AE55-E62F2E25D696}" srcOrd="1" destOrd="0" presId="urn:microsoft.com/office/officeart/2011/layout/InterconnectedBlockProcess"/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73D96D09-DD2B-46D2-8B89-1710E520C3CD}" type="presOf" srcId="{5E92505A-51E0-4F78-B3C5-704ACF8710DE}" destId="{75024C9A-E7A9-4D89-9463-9FE26905DFA9}" srcOrd="0" destOrd="0" presId="urn:microsoft.com/office/officeart/2011/layout/InterconnectedBlockProcess"/>
    <dgm:cxn modelId="{3ABA750C-0ADC-474D-89A0-CD207560AB40}" type="presOf" srcId="{D471E45F-B026-44AA-9616-57E786AE80AF}" destId="{840D3CCE-7581-42CF-903C-B01AC91FF203}" srcOrd="1" destOrd="0" presId="urn:microsoft.com/office/officeart/2011/layout/InterconnectedBlockProcess"/>
    <dgm:cxn modelId="{106FB222-71F0-46A9-B9CD-8ED42326C51C}" type="presOf" srcId="{73DB572E-062D-41AD-8033-D361B8E583DB}" destId="{2532504F-5FE1-4C97-B485-F05E8885EACC}" srcOrd="0" destOrd="0" presId="urn:microsoft.com/office/officeart/2011/layout/InterconnectedBlockProcess"/>
    <dgm:cxn modelId="{FD5F1A37-0C13-4B79-B995-329FCC8ADFBC}" type="presOf" srcId="{D471E45F-B026-44AA-9616-57E786AE80AF}" destId="{A134CDD1-D85F-44EF-8BEE-9F99A855C1E6}" srcOrd="0" destOrd="0" presId="urn:microsoft.com/office/officeart/2011/layout/InterconnectedBlockProcess"/>
    <dgm:cxn modelId="{090B5C5F-12CC-425B-A57E-613F74A3F00E}" type="presOf" srcId="{7B3055AA-BF7C-46D0-9A9E-60087B9F57B4}" destId="{E562AEDA-0956-4E5C-ACDD-0EB506610D38}" srcOrd="0" destOrd="0" presId="urn:microsoft.com/office/officeart/2011/layout/InterconnectedBlockProcess"/>
    <dgm:cxn modelId="{492E6D61-CCFD-4CF5-B6F8-CD071DF473EF}" srcId="{5E92505A-51E0-4F78-B3C5-704ACF8710DE}" destId="{EB913A1E-B939-4FF8-99F9-6357165F0153}" srcOrd="0" destOrd="0" parTransId="{3B73E279-2614-422F-8C7F-C02BD7998867}" sibTransId="{AB73FB37-6A2F-4749-A9AA-8D8993AB3187}"/>
    <dgm:cxn modelId="{629C8D44-2DE6-4417-B3AA-F826BED4B1DC}" type="presOf" srcId="{A59EC69B-8F3F-425B-819F-E8C557946AEE}" destId="{7803AD32-AB32-4C13-8F5D-952B9E2BB1C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2DB8A67F-770D-430A-BCC1-D15B98537FB2}" type="presOf" srcId="{9FED87C4-3F3B-4A18-9185-9F80CFEDEA2E}" destId="{06F8D57B-EDF4-4CF4-8700-DC2CA3E3028E}" srcOrd="0" destOrd="0" presId="urn:microsoft.com/office/officeart/2011/layout/InterconnectedBlockProcess"/>
    <dgm:cxn modelId="{53D77F81-695F-4E3F-82EF-AE032BF07A21}" type="presOf" srcId="{65C051F6-A849-4495-A964-CD4C650B9C06}" destId="{39069612-B169-47BA-8F8B-5A8B15F5B592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74591F95-E2D8-4DD3-BF57-8D2DB7AD00A9}" type="presOf" srcId="{7DE2FC7A-7F2A-4D18-9725-541C9B4F3196}" destId="{8CAE5A4D-0C7B-48A6-917B-0B8433D0574B}" srcOrd="0" destOrd="0" presId="urn:microsoft.com/office/officeart/2011/layout/InterconnectedBlockProcess"/>
    <dgm:cxn modelId="{ACD876A9-6708-4267-B5FC-A87E50AD1A67}" srcId="{65C051F6-A849-4495-A964-CD4C650B9C06}" destId="{7DE2FC7A-7F2A-4D18-9725-541C9B4F3196}" srcOrd="0" destOrd="0" parTransId="{C51468DF-D21C-4E5C-8E03-2C8034DA881C}" sibTransId="{6C82CB86-1DE2-4EC3-9D9A-A6C1877D6785}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A5D53BBC-ACE8-4B88-A4B6-696759268142}" type="presOf" srcId="{7DE2FC7A-7F2A-4D18-9725-541C9B4F3196}" destId="{FF4BA9C8-0AD1-4544-9FEC-A9E09983BAF1}" srcOrd="1" destOrd="0" presId="urn:microsoft.com/office/officeart/2011/layout/InterconnectedBlockProcess"/>
    <dgm:cxn modelId="{D008A9C0-309E-4577-8ECB-C54C96DAA310}" type="presOf" srcId="{EB913A1E-B939-4FF8-99F9-6357165F0153}" destId="{FC0F1314-3294-4A8C-8DCE-EB53E236164C}" srcOrd="0" destOrd="0" presId="urn:microsoft.com/office/officeart/2011/layout/InterconnectedBlockProcess"/>
    <dgm:cxn modelId="{8E2D9ECD-A379-4668-A12D-23CF7C9C919D}" type="presOf" srcId="{988D96B0-D16E-4763-B393-84178CF4FF50}" destId="{7E9BAC5A-DB17-4A4B-AC85-9F3979DA1FE1}" srcOrd="0" destOrd="0" presId="urn:microsoft.com/office/officeart/2011/layout/InterconnectedBlockProcess"/>
    <dgm:cxn modelId="{73E867CF-7A23-459D-9FB9-F4C34A2C5291}" type="presOf" srcId="{EB913A1E-B939-4FF8-99F9-6357165F0153}" destId="{38A92635-8DB5-4030-85F3-E7F612963BE7}" srcOrd="1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73DD7CDD-B91A-4E0B-8DE1-1D7DCD87C5C9}" type="presOf" srcId="{9FED87C4-3F3B-4A18-9185-9F80CFEDEA2E}" destId="{D337CC4A-6DBC-4BC2-98B7-B94DB1DF231A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ED97533C-9C7B-4154-898F-D817AECC3EB2}" type="presParOf" srcId="{A6BCDA7B-D633-438F-B44D-CB4D60E5C492}" destId="{4FD9B95E-6607-4D17-BC56-D524B4CDC1F0}" srcOrd="0" destOrd="0" presId="urn:microsoft.com/office/officeart/2011/layout/InterconnectedBlockProcess"/>
    <dgm:cxn modelId="{E0528573-65C9-4921-AF0C-189D94719F7B}" type="presParOf" srcId="{4FD9B95E-6607-4D17-BC56-D524B4CDC1F0}" destId="{8CAE5A4D-0C7B-48A6-917B-0B8433D0574B}" srcOrd="0" destOrd="0" presId="urn:microsoft.com/office/officeart/2011/layout/InterconnectedBlockProcess"/>
    <dgm:cxn modelId="{913073A6-80F0-4D0B-95A1-1B728B4151D5}" type="presParOf" srcId="{A6BCDA7B-D633-438F-B44D-CB4D60E5C492}" destId="{FF4BA9C8-0AD1-4544-9FEC-A9E09983BAF1}" srcOrd="1" destOrd="0" presId="urn:microsoft.com/office/officeart/2011/layout/InterconnectedBlockProcess"/>
    <dgm:cxn modelId="{7DAA3B58-8203-4A95-9AA2-F446AF3C1F7F}" type="presParOf" srcId="{A6BCDA7B-D633-438F-B44D-CB4D60E5C492}" destId="{39069612-B169-47BA-8F8B-5A8B15F5B592}" srcOrd="2" destOrd="0" presId="urn:microsoft.com/office/officeart/2011/layout/InterconnectedBlockProcess"/>
    <dgm:cxn modelId="{AAA9E5C7-A0DB-4235-826B-26294AB1A4A3}" type="presParOf" srcId="{A6BCDA7B-D633-438F-B44D-CB4D60E5C492}" destId="{4AFAF622-DB52-4007-B777-69D2C7430583}" srcOrd="3" destOrd="0" presId="urn:microsoft.com/office/officeart/2011/layout/InterconnectedBlockProcess"/>
    <dgm:cxn modelId="{05A4186D-6911-479D-8E07-CB125B226C8C}" type="presParOf" srcId="{4AFAF622-DB52-4007-B777-69D2C7430583}" destId="{FC0F1314-3294-4A8C-8DCE-EB53E236164C}" srcOrd="0" destOrd="0" presId="urn:microsoft.com/office/officeart/2011/layout/InterconnectedBlockProcess"/>
    <dgm:cxn modelId="{39CF7837-6C90-45BD-8B34-BD6BEF93F538}" type="presParOf" srcId="{A6BCDA7B-D633-438F-B44D-CB4D60E5C492}" destId="{38A92635-8DB5-4030-85F3-E7F612963BE7}" srcOrd="4" destOrd="0" presId="urn:microsoft.com/office/officeart/2011/layout/InterconnectedBlockProcess"/>
    <dgm:cxn modelId="{27833E5D-2161-4CF9-8E7F-6C77FC1DA435}" type="presParOf" srcId="{A6BCDA7B-D633-438F-B44D-CB4D60E5C492}" destId="{75024C9A-E7A9-4D89-9463-9FE26905DFA9}" srcOrd="5" destOrd="0" presId="urn:microsoft.com/office/officeart/2011/layout/InterconnectedBlockProcess"/>
    <dgm:cxn modelId="{BD177A92-B65A-49E1-9D13-6FFE99F839C7}" type="presParOf" srcId="{A6BCDA7B-D633-438F-B44D-CB4D60E5C492}" destId="{E14EAB72-FFC4-4D22-BB1F-B5FCAB47D489}" srcOrd="6" destOrd="0" presId="urn:microsoft.com/office/officeart/2011/layout/InterconnectedBlockProcess"/>
    <dgm:cxn modelId="{8DF1CABB-6E5D-40A3-B67B-F936D56D20A8}" type="presParOf" srcId="{E14EAB72-FFC4-4D22-BB1F-B5FCAB47D489}" destId="{2532504F-5FE1-4C97-B485-F05E8885EACC}" srcOrd="0" destOrd="0" presId="urn:microsoft.com/office/officeart/2011/layout/InterconnectedBlockProcess"/>
    <dgm:cxn modelId="{46F435F1-C3AF-454C-9E4E-D6AAE1CB1E66}" type="presParOf" srcId="{A6BCDA7B-D633-438F-B44D-CB4D60E5C492}" destId="{47E047BA-3AB9-46AD-AE55-E62F2E25D696}" srcOrd="7" destOrd="0" presId="urn:microsoft.com/office/officeart/2011/layout/InterconnectedBlockProcess"/>
    <dgm:cxn modelId="{7B641691-521E-4A46-8F02-4A31B51C95F8}" type="presParOf" srcId="{A6BCDA7B-D633-438F-B44D-CB4D60E5C492}" destId="{7803AD32-AB32-4C13-8F5D-952B9E2BB1CC}" srcOrd="8" destOrd="0" presId="urn:microsoft.com/office/officeart/2011/layout/InterconnectedBlockProcess"/>
    <dgm:cxn modelId="{66F05617-4ED9-4D19-B355-DE2185C87264}" type="presParOf" srcId="{A6BCDA7B-D633-438F-B44D-CB4D60E5C492}" destId="{D1E0BF74-115A-4106-AB22-0F3B18D1DABF}" srcOrd="9" destOrd="0" presId="urn:microsoft.com/office/officeart/2011/layout/InterconnectedBlockProcess"/>
    <dgm:cxn modelId="{7DFC1E59-A499-4009-8615-20D57A1D0C88}" type="presParOf" srcId="{D1E0BF74-115A-4106-AB22-0F3B18D1DABF}" destId="{06F8D57B-EDF4-4CF4-8700-DC2CA3E3028E}" srcOrd="0" destOrd="0" presId="urn:microsoft.com/office/officeart/2011/layout/InterconnectedBlockProcess"/>
    <dgm:cxn modelId="{93BBF336-9D83-48A4-AB79-4CDEB3EE008F}" type="presParOf" srcId="{A6BCDA7B-D633-438F-B44D-CB4D60E5C492}" destId="{D337CC4A-6DBC-4BC2-98B7-B94DB1DF231A}" srcOrd="10" destOrd="0" presId="urn:microsoft.com/office/officeart/2011/layout/InterconnectedBlockProcess"/>
    <dgm:cxn modelId="{475ACDF3-082F-4C84-AE08-73B6278BECD9}" type="presParOf" srcId="{A6BCDA7B-D633-438F-B44D-CB4D60E5C492}" destId="{E562AEDA-0956-4E5C-ACDD-0EB506610D38}" srcOrd="11" destOrd="0" presId="urn:microsoft.com/office/officeart/2011/layout/InterconnectedBlockProcess"/>
    <dgm:cxn modelId="{093820F8-DC85-4CE5-8CA1-15046EB84DBC}" type="presParOf" srcId="{A6BCDA7B-D633-438F-B44D-CB4D60E5C492}" destId="{AA6A53F4-6F8B-4491-9869-8F7370CE5670}" srcOrd="12" destOrd="0" presId="urn:microsoft.com/office/officeart/2011/layout/InterconnectedBlockProcess"/>
    <dgm:cxn modelId="{145733AE-B022-4785-BF18-FF8DC7B327DC}" type="presParOf" srcId="{AA6A53F4-6F8B-4491-9869-8F7370CE5670}" destId="{A134CDD1-D85F-44EF-8BEE-9F99A855C1E6}" srcOrd="0" destOrd="0" presId="urn:microsoft.com/office/officeart/2011/layout/InterconnectedBlockProcess"/>
    <dgm:cxn modelId="{432943CF-DA05-4B91-B119-11EACF26BC1E}" type="presParOf" srcId="{A6BCDA7B-D633-438F-B44D-CB4D60E5C492}" destId="{840D3CCE-7581-42CF-903C-B01AC91FF203}" srcOrd="13" destOrd="0" presId="urn:microsoft.com/office/officeart/2011/layout/InterconnectedBlockProcess"/>
    <dgm:cxn modelId="{14B6E35A-7783-487B-BA44-3585502D8D42}" type="presParOf" srcId="{A6BCDA7B-D633-438F-B44D-CB4D60E5C492}" destId="{7E9BAC5A-DB17-4A4B-AC85-9F3979DA1FE1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8040242" y="841586"/>
          <a:ext cx="1325488" cy="3366347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1.Mini project completion  2.documentation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 3.final presentation</a:t>
          </a:r>
          <a:endParaRPr lang="en-IN" sz="1600" kern="1200" dirty="0"/>
        </a:p>
      </dsp:txBody>
      <dsp:txXfrm>
        <a:off x="8208495" y="841586"/>
        <a:ext cx="1157235" cy="3366347"/>
      </dsp:txXfrm>
    </dsp:sp>
    <dsp:sp modelId="{39069612-B169-47BA-8F8B-5A8B15F5B592}">
      <dsp:nvSpPr>
        <dsp:cNvPr id="0" name=""/>
        <dsp:cNvSpPr/>
      </dsp:nvSpPr>
      <dsp:spPr>
        <a:xfrm>
          <a:off x="8040242" y="0"/>
          <a:ext cx="1325488" cy="84158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8040242" y="0"/>
        <a:ext cx="1325488" cy="841586"/>
      </dsp:txXfrm>
    </dsp:sp>
    <dsp:sp modelId="{FC0F1314-3294-4A8C-8DCE-EB53E236164C}">
      <dsp:nvSpPr>
        <dsp:cNvPr id="0" name=""/>
        <dsp:cNvSpPr/>
      </dsp:nvSpPr>
      <dsp:spPr>
        <a:xfrm>
          <a:off x="6718066" y="841586"/>
          <a:ext cx="1325488" cy="3155950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1.Model evaluation  2.performance metrics  3.improvement/tuning</a:t>
          </a:r>
          <a:endParaRPr lang="en-IN" sz="1600" kern="1200" dirty="0"/>
        </a:p>
      </dsp:txBody>
      <dsp:txXfrm>
        <a:off x="6886319" y="841586"/>
        <a:ext cx="1157235" cy="3155950"/>
      </dsp:txXfrm>
    </dsp:sp>
    <dsp:sp modelId="{75024C9A-E7A9-4D89-9463-9FE26905DFA9}">
      <dsp:nvSpPr>
        <dsp:cNvPr id="0" name=""/>
        <dsp:cNvSpPr/>
      </dsp:nvSpPr>
      <dsp:spPr>
        <a:xfrm>
          <a:off x="6718066" y="105198"/>
          <a:ext cx="1325488" cy="73638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6718066" y="105198"/>
        <a:ext cx="1325488" cy="736388"/>
      </dsp:txXfrm>
    </dsp:sp>
    <dsp:sp modelId="{2532504F-5FE1-4C97-B485-F05E8885EACC}">
      <dsp:nvSpPr>
        <dsp:cNvPr id="0" name=""/>
        <dsp:cNvSpPr/>
      </dsp:nvSpPr>
      <dsp:spPr>
        <a:xfrm>
          <a:off x="5399391" y="808390"/>
          <a:ext cx="1325488" cy="2945553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1.Implement ML models (classification/regression) + training</a:t>
          </a:r>
        </a:p>
      </dsp:txBody>
      <dsp:txXfrm>
        <a:off x="5567644" y="808390"/>
        <a:ext cx="1157235" cy="2945553"/>
      </dsp:txXfrm>
    </dsp:sp>
    <dsp:sp modelId="{7803AD32-AB32-4C13-8F5D-952B9E2BB1CC}">
      <dsp:nvSpPr>
        <dsp:cNvPr id="0" name=""/>
        <dsp:cNvSpPr/>
      </dsp:nvSpPr>
      <dsp:spPr>
        <a:xfrm>
          <a:off x="5392578" y="213763"/>
          <a:ext cx="1325488" cy="63119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5392578" y="213763"/>
        <a:ext cx="1325488" cy="631190"/>
      </dsp:txXfrm>
    </dsp:sp>
    <dsp:sp modelId="{06F8D57B-EDF4-4CF4-8700-DC2CA3E3028E}">
      <dsp:nvSpPr>
        <dsp:cNvPr id="0" name=""/>
        <dsp:cNvSpPr/>
      </dsp:nvSpPr>
      <dsp:spPr>
        <a:xfrm>
          <a:off x="4067090" y="841586"/>
          <a:ext cx="1325488" cy="273515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1.Data collection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2.Data cleaning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3.Preprocessing basics</a:t>
          </a:r>
        </a:p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35342" y="841586"/>
        <a:ext cx="1157235" cy="2735157"/>
      </dsp:txXfrm>
    </dsp:sp>
    <dsp:sp modelId="{E562AEDA-0956-4E5C-ACDD-0EB506610D38}">
      <dsp:nvSpPr>
        <dsp:cNvPr id="0" name=""/>
        <dsp:cNvSpPr/>
      </dsp:nvSpPr>
      <dsp:spPr>
        <a:xfrm>
          <a:off x="4067090" y="315595"/>
          <a:ext cx="1325488" cy="52599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4067090" y="315595"/>
        <a:ext cx="1325488" cy="525991"/>
      </dsp:txXfrm>
    </dsp:sp>
    <dsp:sp modelId="{A134CDD1-D85F-44EF-8BEE-9F99A855C1E6}">
      <dsp:nvSpPr>
        <dsp:cNvPr id="0" name=""/>
        <dsp:cNvSpPr/>
      </dsp:nvSpPr>
      <dsp:spPr>
        <a:xfrm>
          <a:off x="2711658" y="801670"/>
          <a:ext cx="1325488" cy="2524760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/>
            <a:t>1.Company study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b="0" kern="1200" dirty="0"/>
            <a:t>2.Python programming basics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/>
            <a:t>3.AI/ML domain understanding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/>
            <a:t>4.Tools setup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79911" y="801670"/>
        <a:ext cx="1157235" cy="2524760"/>
      </dsp:txXfrm>
    </dsp:sp>
    <dsp:sp modelId="{7E9BAC5A-DB17-4A4B-AC85-9F3979DA1FE1}">
      <dsp:nvSpPr>
        <dsp:cNvPr id="0" name=""/>
        <dsp:cNvSpPr/>
      </dsp:nvSpPr>
      <dsp:spPr>
        <a:xfrm>
          <a:off x="2741601" y="420793"/>
          <a:ext cx="1325488" cy="4207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741601" y="420793"/>
        <a:ext cx="1325488" cy="4207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19/01/2026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19-01-2026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enexz.in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eda2808/CSE7302---INTERNSHIP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7490569" y="1994593"/>
            <a:ext cx="3186522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Abhishek M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CSE7302-Internship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Gopal Shyam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Anandan Bellie</a:t>
            </a:r>
            <a:endParaRPr lang="en-US" sz="2000" b="1" i="0" u="none" strike="noStrike" cap="none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05878"/>
            <a:ext cx="10515600" cy="1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ARTIFICIAL INTELLIGENCE AND MACHINE LEARNING </a:t>
            </a:r>
          </a:p>
          <a:p>
            <a:pPr algn="ctr"/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INTERNSHIP TASKS AND PROJECT</a:t>
            </a:r>
            <a:b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556614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Jinka Veda Sree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20221ISE0057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8ISE03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 err="1"/>
              <a:t>Aenexz</a:t>
            </a:r>
            <a:r>
              <a:rPr lang="en-US" b="1" dirty="0"/>
              <a:t> Tech Pvt. Ltd.</a:t>
            </a:r>
            <a:r>
              <a:rPr lang="en-US" dirty="0"/>
              <a:t> (</a:t>
            </a:r>
            <a:r>
              <a:rPr lang="it-IT" dirty="0">
                <a:hlinkClick r:id="rId2"/>
              </a:rPr>
              <a:t>AENEXZ TECH PRIVATE LIMITED – Innovate. Automate. Dominate </a:t>
            </a:r>
            <a:r>
              <a:rPr lang="it-IT" dirty="0"/>
              <a:t>)</a:t>
            </a:r>
            <a:r>
              <a:rPr lang="en-US" dirty="0"/>
              <a:t>is a technology company that focuses on delivering </a:t>
            </a:r>
            <a:r>
              <a:rPr lang="en-US" b="1" dirty="0"/>
              <a:t>software and digital solutions</a:t>
            </a:r>
            <a:r>
              <a:rPr lang="en-US" dirty="0"/>
              <a:t> for businesses.</a:t>
            </a:r>
          </a:p>
          <a:p>
            <a:pPr marL="0" indent="0">
              <a:buNone/>
            </a:pPr>
            <a:r>
              <a:rPr lang="en-US" b="1" dirty="0"/>
              <a:t>Key Highlights</a:t>
            </a:r>
            <a:endParaRPr lang="en-US" dirty="0"/>
          </a:p>
          <a:p>
            <a:r>
              <a:rPr lang="en-US" dirty="0"/>
              <a:t>Works on </a:t>
            </a:r>
            <a:r>
              <a:rPr lang="en-US" b="1" dirty="0"/>
              <a:t>modern IT solutions</a:t>
            </a:r>
            <a:r>
              <a:rPr lang="en-US" dirty="0"/>
              <a:t> and product development</a:t>
            </a:r>
          </a:p>
          <a:p>
            <a:r>
              <a:rPr lang="en-US" dirty="0"/>
              <a:t>Provides </a:t>
            </a:r>
            <a:r>
              <a:rPr lang="en-US" b="1" dirty="0"/>
              <a:t>AI/ML and software-based services</a:t>
            </a:r>
            <a:endParaRPr lang="en-US" dirty="0"/>
          </a:p>
          <a:p>
            <a:r>
              <a:rPr lang="en-US" dirty="0"/>
              <a:t>Focuses on </a:t>
            </a:r>
            <a:r>
              <a:rPr lang="en-US" b="1" dirty="0"/>
              <a:t>real-world problem solving</a:t>
            </a:r>
            <a:r>
              <a:rPr lang="en-US" dirty="0"/>
              <a:t> using emerging technologies</a:t>
            </a:r>
          </a:p>
          <a:p>
            <a:pPr marL="0" indent="0">
              <a:buNone/>
            </a:pPr>
            <a:r>
              <a:rPr lang="en-US" b="1" dirty="0"/>
              <a:t>Why I chose this company</a:t>
            </a:r>
            <a:endParaRPr lang="en-US" dirty="0"/>
          </a:p>
          <a:p>
            <a:r>
              <a:rPr lang="en-US" dirty="0"/>
              <a:t>Opportunity to learn AI/ML practically</a:t>
            </a:r>
          </a:p>
          <a:p>
            <a:r>
              <a:rPr lang="en-US" dirty="0"/>
              <a:t>Exposure to industry-style workflow in a virtual environment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1DEA0F-621D-1E81-A26D-336CE5A50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1BBEB0-52DB-C8B6-84BF-3646931ED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4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C9FA55-7723-A2E8-F550-5F1B12B176AE}"/>
              </a:ext>
            </a:extLst>
          </p:cNvPr>
          <p:cNvSpPr txBox="1"/>
          <p:nvPr/>
        </p:nvSpPr>
        <p:spPr>
          <a:xfrm>
            <a:off x="327259" y="346509"/>
            <a:ext cx="1156956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Company Legacy / Vision:</a:t>
            </a:r>
          </a:p>
          <a:p>
            <a:endParaRPr lang="en-US" sz="2800" b="1" dirty="0"/>
          </a:p>
          <a:p>
            <a:r>
              <a:rPr lang="en-US" sz="2800" b="1" dirty="0"/>
              <a:t>Vision &amp; Approach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Building scalable solutions using </a:t>
            </a:r>
            <a:r>
              <a:rPr lang="en-US" sz="2800" b="1" dirty="0"/>
              <a:t>latest technologies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Encouraging innovation through </a:t>
            </a:r>
            <a:r>
              <a:rPr lang="en-US" sz="2800" b="1" dirty="0"/>
              <a:t>continuous learning &amp; implementation</a:t>
            </a:r>
          </a:p>
          <a:p>
            <a:endParaRPr lang="en-US" sz="2800" dirty="0"/>
          </a:p>
          <a:p>
            <a:r>
              <a:rPr lang="en-US" sz="2800" b="1" dirty="0"/>
              <a:t>Core Strengths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Industry-relevant development practices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Practical exposure through internship tasks and assignments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Guidance and mentoring support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028992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domain: </a:t>
            </a:r>
            <a:r>
              <a:rPr lang="en-US" dirty="0"/>
              <a:t>Artificial Intelligence &amp; Machine Learning</a:t>
            </a:r>
          </a:p>
          <a:p>
            <a:pPr marL="0" indent="0">
              <a:buNone/>
            </a:pPr>
            <a:r>
              <a:rPr lang="en-US" b="1" dirty="0"/>
              <a:t>What AI/ML means</a:t>
            </a:r>
            <a:endParaRPr lang="en-US" dirty="0"/>
          </a:p>
          <a:p>
            <a:r>
              <a:rPr lang="en-US" dirty="0"/>
              <a:t>AI enables systems to perform tasks that require human intelligence</a:t>
            </a:r>
          </a:p>
          <a:p>
            <a:r>
              <a:rPr lang="en-US" dirty="0"/>
              <a:t>ML helps systems learn patterns from data and make predictions</a:t>
            </a:r>
          </a:p>
          <a:p>
            <a:pPr marL="0" indent="0">
              <a:buNone/>
            </a:pPr>
            <a:r>
              <a:rPr lang="en-US" b="1" dirty="0"/>
              <a:t>Importance of AI/ML</a:t>
            </a:r>
            <a:endParaRPr lang="en-US" dirty="0"/>
          </a:p>
          <a:p>
            <a:r>
              <a:rPr lang="en-US" dirty="0"/>
              <a:t>Automates decision making</a:t>
            </a:r>
          </a:p>
          <a:p>
            <a:r>
              <a:rPr lang="en-US" dirty="0"/>
              <a:t>Improves accuracy and efficiency</a:t>
            </a:r>
          </a:p>
          <a:p>
            <a:r>
              <a:rPr lang="en-US" dirty="0"/>
              <a:t>Used in healthcare, finance, security, and recommendation systems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F837A1-8DDD-54E2-D9EB-BF94F7159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D8B0C5-F711-BD34-D5ED-43D113B3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6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974714-2EA4-4C67-6DC7-12BA2C2917EF}"/>
              </a:ext>
            </a:extLst>
          </p:cNvPr>
          <p:cNvSpPr txBox="1"/>
          <p:nvPr/>
        </p:nvSpPr>
        <p:spPr>
          <a:xfrm>
            <a:off x="673768" y="385011"/>
            <a:ext cx="1068003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Technologies / Tools Used: </a:t>
            </a:r>
          </a:p>
          <a:p>
            <a:endParaRPr lang="en-IN" sz="2800" b="1" dirty="0"/>
          </a:p>
          <a:p>
            <a:r>
              <a:rPr lang="en-IN" sz="2800" b="1" dirty="0"/>
              <a:t>Tools &amp; Platforms (typical AI/ML workflow)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Python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err="1"/>
              <a:t>Jupyter</a:t>
            </a:r>
            <a:r>
              <a:rPr lang="en-IN" sz="2800" dirty="0"/>
              <a:t> Notebook / Google </a:t>
            </a:r>
            <a:r>
              <a:rPr lang="en-IN" sz="2800" dirty="0" err="1"/>
              <a:t>Colab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NumPy, Pandas (data handling)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Matplotlib / Seaborn (visualization)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Scikit-learn (ML models)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87338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Team Structure (Virtual Internship Setup)</a:t>
            </a:r>
            <a:endParaRPr lang="en-US" dirty="0"/>
          </a:p>
          <a:p>
            <a:r>
              <a:rPr lang="en-US" dirty="0"/>
              <a:t>Interns work on assigned modules/tasks</a:t>
            </a:r>
          </a:p>
          <a:p>
            <a:r>
              <a:rPr lang="en-US" dirty="0"/>
              <a:t>Weekly progress tracking and review</a:t>
            </a:r>
          </a:p>
          <a:p>
            <a:pPr marL="0" indent="0">
              <a:buNone/>
            </a:pPr>
            <a:r>
              <a:rPr lang="en-US" b="1" dirty="0"/>
              <a:t>Reporting Manager</a:t>
            </a:r>
            <a:endParaRPr lang="en-US" dirty="0"/>
          </a:p>
          <a:p>
            <a:r>
              <a:rPr lang="en-US" b="1" dirty="0"/>
              <a:t>Bhanu Prakash Reddy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My Reporting Process</a:t>
            </a:r>
            <a:endParaRPr lang="en-US" dirty="0"/>
          </a:p>
          <a:p>
            <a:r>
              <a:rPr lang="en-US" dirty="0"/>
              <a:t>Task assignment → learning resources → implementation → submission</a:t>
            </a:r>
          </a:p>
          <a:p>
            <a:r>
              <a:rPr lang="en-US" dirty="0"/>
              <a:t>Regular feedback and corrections to improve work quality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dirty="0"/>
              <a:t>Balancing </a:t>
            </a:r>
            <a:r>
              <a:rPr lang="en-US" b="1" dirty="0"/>
              <a:t>final year academics + internship + placements</a:t>
            </a:r>
            <a:endParaRPr lang="en-US" dirty="0"/>
          </a:p>
          <a:p>
            <a:r>
              <a:rPr lang="en-US" dirty="0"/>
              <a:t>Difficulty in </a:t>
            </a:r>
            <a:r>
              <a:rPr lang="en-US" b="1" dirty="0"/>
              <a:t>finding job opportunities</a:t>
            </a:r>
            <a:r>
              <a:rPr lang="en-US" dirty="0"/>
              <a:t> due to high competition</a:t>
            </a:r>
          </a:p>
          <a:p>
            <a:r>
              <a:rPr lang="en-US" dirty="0"/>
              <a:t>Struggling to </a:t>
            </a:r>
            <a:r>
              <a:rPr lang="en-US" b="1" dirty="0"/>
              <a:t>crack technical interviews</a:t>
            </a:r>
            <a:r>
              <a:rPr lang="en-US" dirty="0"/>
              <a:t> and coding rounds</a:t>
            </a:r>
          </a:p>
          <a:p>
            <a:r>
              <a:rPr lang="en-US" dirty="0"/>
              <a:t>Improving </a:t>
            </a:r>
            <a:r>
              <a:rPr lang="en-US" b="1" dirty="0"/>
              <a:t>resume &amp; projects</a:t>
            </a:r>
            <a:r>
              <a:rPr lang="en-US" dirty="0"/>
              <a:t> to meet industry expectations</a:t>
            </a:r>
          </a:p>
          <a:p>
            <a:r>
              <a:rPr lang="en-US" dirty="0"/>
              <a:t>Understanding </a:t>
            </a:r>
            <a:r>
              <a:rPr lang="en-US" b="1" dirty="0"/>
              <a:t>AI/ML concepts</a:t>
            </a:r>
            <a:r>
              <a:rPr lang="en-US" dirty="0"/>
              <a:t> and applying them practically</a:t>
            </a:r>
          </a:p>
          <a:p>
            <a:r>
              <a:rPr lang="en-US" dirty="0"/>
              <a:t>Handling </a:t>
            </a:r>
            <a:r>
              <a:rPr lang="en-US" b="1" dirty="0"/>
              <a:t>time management</a:t>
            </a:r>
            <a:r>
              <a:rPr lang="en-US" dirty="0"/>
              <a:t> and meeting deadlines</a:t>
            </a:r>
          </a:p>
          <a:p>
            <a:r>
              <a:rPr lang="en-US" dirty="0"/>
              <a:t>Dealing with </a:t>
            </a:r>
            <a:r>
              <a:rPr lang="en-US" b="1" dirty="0"/>
              <a:t>rejections / no replies</a:t>
            </a:r>
            <a:r>
              <a:rPr lang="en-US" dirty="0"/>
              <a:t> from companies</a:t>
            </a:r>
          </a:p>
          <a:p>
            <a:r>
              <a:rPr lang="en-US" dirty="0"/>
              <a:t>Maintaining </a:t>
            </a:r>
            <a:r>
              <a:rPr lang="en-US" b="1" dirty="0"/>
              <a:t>consistency and motivation</a:t>
            </a:r>
            <a:r>
              <a:rPr lang="en-US" dirty="0"/>
              <a:t> during preparation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Generalized Objectives</a:t>
            </a:r>
            <a:endParaRPr lang="en-US" dirty="0"/>
          </a:p>
          <a:p>
            <a:r>
              <a:rPr lang="en-US" dirty="0"/>
              <a:t>Understand the complete ML pipeline from data to evaluation</a:t>
            </a:r>
          </a:p>
          <a:p>
            <a:r>
              <a:rPr lang="en-US" dirty="0"/>
              <a:t>Build small working models for classification/regression tasks</a:t>
            </a:r>
          </a:p>
          <a:p>
            <a:r>
              <a:rPr lang="en-US" dirty="0"/>
              <a:t>Improve skills in data preprocessing and feature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1257210"/>
              </p:ext>
            </p:extLst>
          </p:nvPr>
        </p:nvGraphicFramePr>
        <p:xfrm>
          <a:off x="177800" y="1147823"/>
          <a:ext cx="12107333" cy="42079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7534" y="2344310"/>
            <a:ext cx="8257425" cy="596311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hlinkClick r:id="rId2"/>
              </a:rPr>
              <a:t>Veda2808/CSE7302---INTERNSHIP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7073</TotalTime>
  <Words>598</Words>
  <Application>Microsoft Office PowerPoint</Application>
  <PresentationFormat>Widescreen</PresentationFormat>
  <Paragraphs>119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PowerPoint Presentation</vt:lpstr>
      <vt:lpstr>Working domain or the technology</vt:lpstr>
      <vt:lpstr>PowerPoint Presentation</vt:lpstr>
      <vt:lpstr>About your team and reporting Manager</vt:lpstr>
      <vt:lpstr>Challenges Faced in Internship</vt:lpstr>
      <vt:lpstr>Objectives of the work</vt:lpstr>
      <vt:lpstr>Internship Road Map</vt:lpstr>
      <vt:lpstr>Github Link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JINKA VEDA SREE</cp:lastModifiedBy>
  <cp:revision>720</cp:revision>
  <dcterms:created xsi:type="dcterms:W3CDTF">2022-10-14T07:18:17Z</dcterms:created>
  <dcterms:modified xsi:type="dcterms:W3CDTF">2026-01-19T04:06:21Z</dcterms:modified>
</cp:coreProperties>
</file>